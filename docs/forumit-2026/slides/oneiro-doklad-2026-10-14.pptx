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>
                <a:solidFill>
                  <a:srgbClr val="5A6B7B"/>
                </a:solidFill>
                <a:latin typeface="Calibri"/>
              </a:rPr>
              <a:t>Средние токены подсказки на задачу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средние токены подсказки</c:v>
                </c:pt>
              </c:strCache>
            </c:strRef>
          </c:tx>
          <c:dPt>
            <c:idx val="0"/>
            <c:spPr>
              <a:solidFill>
                <a:srgbClr val="0F7C86"/>
              </a:solidFill>
            </c:spPr>
          </c:dPt>
          <c:dPt>
            <c:idx val="1"/>
            <c:spPr>
              <a:solidFill>
                <a:srgbClr val="C2405A"/>
              </a:solidFill>
            </c:spPr>
          </c:dPt>
          <c:cat>
            <c:strRef>
              <c:f>Sheet1!$A$2:$A$3</c:f>
              <c:strCache>
                <c:ptCount val="2"/>
                <c:pt idx="0">
                  <c:v>контроль (recorded)</c:v>
                </c:pt>
                <c:pt idx="1">
                  <c:v>кандидат (windowed)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4583.0</c:v>
                </c:pt>
                <c:pt idx="1">
                  <c:v>4589.8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300" b="1"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13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50"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Титул.</a:t>
            </a:r>
          </a:p>
          <a:p>
            <a:r>
              <a:t>Кадр: Тема, автор, руководитель и школа — только на этом слайде.</a:t>
            </a:r>
          </a:p>
          <a:p>
            <a:r>
              <a:t>Ответы опроса: 5, 6</a:t>
            </a:r>
          </a:p>
          <a:p>
            <a:r>
              <a:t>Доказательство: docs/forumit-2026/Письмо-в-оргкомитет.md</a:t>
            </a:r>
          </a:p>
          <a:p>
            <a:r>
              <a:t>Ничего, чего нет в этом файле, на слайде не утверждается. Формулировки из приложения C речи на слайдах не используются.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Схема ролей.</a:t>
            </a:r>
          </a:p>
          <a:p>
            <a:r>
              <a:t>Кадр: Три части системы и роли с их правами: право на отправку есть у исполнителя, у менеджера его нет.</a:t>
            </a:r>
          </a:p>
          <a:p>
            <a:r>
              <a:t>Ответы опроса: 37, 38, 49, 51, 54, 99</a:t>
            </a:r>
          </a:p>
          <a:p>
            <a:r>
              <a:t>Доказательство: python/oneiro/tools.py (ROLE_EFFECTS), python/oneiro/tasks.py (ROLES), python/oneiro/records.py (Approval.covers)</a:t>
            </a:r>
          </a:p>
          <a:p>
            <a:r>
              <a:t>Ничего, чего нет в этом файле, на слайде не утверждается. Формулировки из приложения C речи на слайдах не используются.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Память: виды записей и происхождение.</a:t>
            </a:r>
          </a:p>
          <a:p>
            <a:r>
              <a:t>Кадр: Записи разных видов, и у каждой — источник, дата создания и дата изменения.</a:t>
            </a:r>
          </a:p>
          <a:p>
            <a:r>
              <a:t>Ответы опроса: 19, 21, 31, 35</a:t>
            </a:r>
          </a:p>
          <a:p>
            <a:r>
              <a:t>Доказательство: python/oneiro/records.py (Provenance), python/oneiro/agent.py (remember → MODEL_CLAIM)</a:t>
            </a:r>
          </a:p>
          <a:p>
            <a:r>
              <a:t>Ничего, чего нет в этом файле, на слайде не утверждается. Формулировки из приложения C речи на слайдах не используются.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Правка не стирает прежнее значение.</a:t>
            </a:r>
          </a:p>
          <a:p>
            <a:r>
              <a:t>Кадр: Прежняя редакция того же факта остаётся со своей датой и своим источником; вся ли история прочитана, панель говорит.</a:t>
            </a:r>
          </a:p>
          <a:p>
            <a:r>
              <a:t>Ответы опроса: 27, 28</a:t>
            </a:r>
          </a:p>
          <a:p>
            <a:r>
              <a:t>Доказательство: python/oneiro/recall.py (history_complete), tests/live_memory_check.py — 22 шага, код 0</a:t>
            </a:r>
          </a:p>
          <a:p>
            <a:r>
              <a:t>Ничего, чего нет в этом файле, на слайде не утверждается. Формулировки из приложения C речи на слайдах не используются.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 даёт память: три числа одного замера.</a:t>
            </a:r>
          </a:p>
          <a:p>
            <a:r>
              <a:t>Кадр: С памятью 0,74 и 0,76, без памяти 0,08 на пятидесяти вопросах; два хранилища идут вровень, слабое место названо.</a:t>
            </a:r>
          </a:p>
          <a:p>
            <a:r>
              <a:t>Ответы опроса: 22, 24, 25, 30</a:t>
            </a:r>
          </a:p>
          <a:p>
            <a:r>
              <a:t>Доказательство: ~/.openclaw/bench-memory/runs/s-50-8-report.md (свежий прогон на текущем коде: 50 вопросов, cap 100, k 5, руки graph,flat,none, код возврата 0, 149 клеток с вердиктом из 150; ответы kimi-k2.5, вердикты deepseek-v4-pro); bench/memory/run.py</a:t>
            </a:r>
          </a:p>
          <a:p>
            <a:r>
              <a:t>Ничего, чего нет в этом файле, на слайде не утверждается. Формулировки из приложения C речи на слайдах не используются.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 памяти в панели.</a:t>
            </a:r>
          </a:p>
          <a:p>
            <a:r>
              <a:t>Кадр: Кадр панели: три факта владельца, источник, даты, прежнее значение.</a:t>
            </a:r>
          </a:p>
          <a:p>
            <a:r>
              <a:t>Ответы опроса: 32</a:t>
            </a:r>
          </a:p>
          <a:p>
            <a:r>
              <a:t>Доказательство: docs/forumit-2026/slides/img/ru-memory-facts.png (снят tests/live_slide_shots.py на отдельном корне данных и отдельном графе)</a:t>
            </a:r>
          </a:p>
          <a:p>
            <a:r>
              <a:t>Ничего, чего нет в этом файле, на слайде не утверждается. Формулировки из приложения C речи на слайдах не используются.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Автономность: границы записаны в коде.</a:t>
            </a:r>
          </a:p>
          <a:p>
            <a:r>
              <a:t>Кадр: Текстом, без схемы: пакеты не вливаются сами, одобрение привязано к точному вызову, изоляция контейнерная.</a:t>
            </a:r>
          </a:p>
          <a:p>
            <a:r>
              <a:t>Ответы опроса: 38, 45, 47, 48, 51, 54</a:t>
            </a:r>
          </a:p>
          <a:p>
            <a:r>
              <a:t>Доказательство: python/oneiro/tools.py (arguments_digest), python/oneiro/records.py (Approval), python/oneiro/web.py (/api/settings), python/oneiro/office_env.py, docker-compose.yml</a:t>
            </a:r>
          </a:p>
          <a:p>
            <a:r>
              <a:t>Ничего, чего нет в этом файле, на слайде не утверждается. Формулировки из приложения C речи на слайдах не используются.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Журнал организации.</a:t>
            </a:r>
          </a:p>
          <a:p>
            <a:r>
              <a:t>Кадр: Кадр панели: две задачи с ролями и состояниями и постоянное расписание с cron.</a:t>
            </a:r>
          </a:p>
          <a:p>
            <a:r>
              <a:t>Ответы опроса: 43</a:t>
            </a:r>
          </a:p>
          <a:p>
            <a:r>
              <a:t>Доказательство: docs/forumit-2026/slides/img/ru-tasks-journal.png (снят tests/live_slide_shots.py); python/oneiro/tasks.py, python/oneiro/schedule.py</a:t>
            </a:r>
          </a:p>
          <a:p>
            <a:r>
              <a:t>Ничего, чего нет в этом файле, на слайде не утверждается. Формулировки из приложения C речи на слайдах не используются.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Проактивность: расписание и тишина.</a:t>
            </a:r>
          </a:p>
          <a:p>
            <a:r>
              <a:t>Кадр: Расписание, тихие часы 22:00-09:00, один утренний разбор и одно повторное напоминание — на одном тике.</a:t>
            </a:r>
          </a:p>
          <a:p>
            <a:r>
              <a:t>Ответы опроса: 57, 58, 63, 65, 66, 67, 71, 73, 75</a:t>
            </a:r>
          </a:p>
          <a:p>
            <a:r>
              <a:t>Доказательство: python/oneiro/proactive.py, python/oneiro/schedule.py (tick), tests/live_proactive_check.py — 23 шага, код 0 (лог _tmp/recheck-20261013/live-proactive.log); docs/forumit-2026/slides/img/ru-initiative.png</a:t>
            </a:r>
          </a:p>
          <a:p>
            <a:r>
              <a:t>Ничего, чего нет в этом файле, на слайде не утверждается. Формулировки из приложения C речи на слайдах не используются.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Самоулучшение: механизм отказа.</a:t>
            </a:r>
          </a:p>
          <a:p>
            <a:r>
              <a:t>Кадр: Три правила: повтор только по наблюдаемому решению, три повтора на задачу, шлюз с отдельным применением и откатом.</a:t>
            </a:r>
          </a:p>
          <a:p>
            <a:r>
              <a:t>Ответы опроса: 80, 83, 86, 88, 93</a:t>
            </a:r>
          </a:p>
          <a:p>
            <a:r>
              <a:t>Доказательство: docs/harness.md (Judge calibration), harness/policy.py (VARIANTS), python/oneiro/dream/gate.py, python/oneiro/dream/measure.py</a:t>
            </a:r>
          </a:p>
          <a:p>
            <a:r>
              <a:t>Ничего, чего нет в этом файле, на слайде не утверждается. Формулировки из приложения C речи на слайдах не используются.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Отклонённый кандидат: одно число.</a:t>
            </a:r>
          </a:p>
          <a:p>
            <a:r>
              <a:t>Кадр: 4589,8 против 4583,0 — на 0,15 % дороже, разница не вышла за шум, изменение отклонено.</a:t>
            </a:r>
          </a:p>
          <a:p>
            <a:r>
              <a:t>Ответы опроса: 78</a:t>
            </a:r>
          </a:p>
          <a:p>
            <a:r>
              <a:t>Доказательство: docs/O8-2026-10-12.md, строки 119-130 и 241; payload _tmp/o8-live6-payload.json</a:t>
            </a:r>
          </a:p>
          <a:p>
            <a:r>
              <a:t>Ничего, чего нет в этом файле, на слайде не утверждается. Формулировки из приложения C речи на слайдах не используются.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 дальше.</a:t>
            </a:r>
          </a:p>
          <a:p>
            <a:r>
              <a:t>Кадр: Поиск по смыслу, изоляция уровня отдельной машины, больше повторов в замерах.</a:t>
            </a:r>
          </a:p>
          <a:p>
            <a:r>
              <a:t>Ответы опроса: 13, 91, 94</a:t>
            </a:r>
          </a:p>
          <a:p>
            <a:r>
              <a:t>Доказательство: docs/TALK-RU-2026-10-13.md, раздел 9; docs/ACCEPTANCE-REPORT.md (границы)</a:t>
            </a:r>
          </a:p>
          <a:p>
            <a:r>
              <a:t>Ничего, чего нет в этом файле, на слайде не утверждается. Формулировки из приложения C речи на слайдах не используются.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Ссылка на исходный код.</a:t>
            </a:r>
          </a:p>
          <a:p>
            <a:r>
              <a:t>Кадр: Ссылка на репозиторий в последнем слайде и то, что в нём лежит.</a:t>
            </a:r>
          </a:p>
          <a:p>
            <a:r>
              <a:t>Ответы опроса: 14, 96, 100</a:t>
            </a:r>
          </a:p>
          <a:p>
            <a:r>
              <a:t>Доказательство: репозиторий открыт (проверено 2026-10-13: api.github.com/repos/youlianvr/oneiro-ostis → HTTP 200)</a:t>
            </a:r>
          </a:p>
          <a:p>
            <a:r>
              <a:t>Ничего, чего нет в этом файле, на слайде не утверждается. Формулировки из приложения C речи на слайдах не используются.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43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731520" y="502920"/>
            <a:ext cx="457200" cy="310896"/>
          </a:xfrm>
          <a:prstGeom prst="line">
            <a:avLst/>
          </a:prstGeom>
          <a:ln w="12700">
            <a:solidFill>
              <a:srgbClr val="5FD0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31520" y="813816"/>
            <a:ext cx="914400" cy="0"/>
          </a:xfrm>
          <a:prstGeom prst="line">
            <a:avLst/>
          </a:prstGeom>
          <a:ln w="12700">
            <a:solidFill>
              <a:srgbClr val="5FD0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188720" y="502920"/>
            <a:ext cx="457200" cy="310896"/>
          </a:xfrm>
          <a:prstGeom prst="line">
            <a:avLst/>
          </a:prstGeom>
          <a:ln w="12700">
            <a:solidFill>
              <a:srgbClr val="5FD0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/>
          <p:cNvSpPr/>
          <p:nvPr/>
        </p:nvSpPr>
        <p:spPr>
          <a:xfrm>
            <a:off x="658368" y="740664"/>
            <a:ext cx="146304" cy="146304"/>
          </a:xfrm>
          <a:prstGeom prst="ellipse">
            <a:avLst/>
          </a:prstGeom>
          <a:solidFill>
            <a:srgbClr val="5FD0C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15568" y="429768"/>
            <a:ext cx="146304" cy="146304"/>
          </a:xfrm>
          <a:prstGeom prst="ellipse">
            <a:avLst/>
          </a:prstGeom>
          <a:solidFill>
            <a:srgbClr val="5FD0C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572768" y="740664"/>
            <a:ext cx="146304" cy="146304"/>
          </a:xfrm>
          <a:prstGeom prst="ellipse">
            <a:avLst/>
          </a:prstGeom>
          <a:solidFill>
            <a:srgbClr val="5FD0C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170432"/>
            <a:ext cx="6583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5FD0CB"/>
                </a:solidFill>
                <a:latin typeface="Calibri"/>
              </a:rPr>
              <a:t>Форум, секция информатики · 14 октября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627632"/>
            <a:ext cx="685800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700" b="1" i="0">
                <a:solidFill>
                  <a:srgbClr val="FFFFFF"/>
                </a:solidFill>
                <a:latin typeface="Cambria"/>
              </a:rPr>
              <a:t>Oneiro-OSTIS: автономный агент с памятью в графе знаний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529584"/>
            <a:ext cx="6400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AFC3D4"/>
                </a:solidFill>
                <a:latin typeface="Calibri"/>
              </a:rPr>
              <a:t>Работа строится вокруг вопроса: какое наблюдение подтверждает каждое действие?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443984"/>
            <a:ext cx="6858000" cy="1325880"/>
          </a:xfrm>
          <a:prstGeom prst="roundRect">
            <a:avLst>
              <a:gd name="adj" fmla="val 6000"/>
            </a:avLst>
          </a:prstGeom>
          <a:solidFill>
            <a:srgbClr val="16324B"/>
          </a:solidFill>
          <a:ln>
            <a:noFill/>
          </a:ln>
          <a:effectLst/>
        </p:spPr>
        <p:txBody>
          <a:bodyPr rtlCol="0" anchor="t" wrap="square" lIns="182880" rIns="182880" tIns="128016" bIns="128016"/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Ступчик Юлиан Владиславович, учащийся 10 класса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00" b="0" i="0">
                <a:solidFill>
                  <a:srgbClr val="AFC3D4"/>
                </a:solidFill>
                <a:latin typeface="Calibri"/>
              </a:rPr>
              <a:t>Государственное учреждение образования «Дубненская средняя школа имени Андрея Степановича Данилова», Гродненская область</a:t>
            </a:r>
          </a:p>
          <a:p>
            <a:pPr algn="l"/>
            <a:r>
              <a:rPr sz="1100" b="0" i="0">
                <a:solidFill>
                  <a:srgbClr val="AFC3D4"/>
                </a:solidFill>
                <a:latin typeface="Calibri"/>
              </a:rPr>
              <a:t>Научный руководитель: Ковалевская Ольга Вячеславовна, учитель информатики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549640" y="1874519"/>
            <a:ext cx="228600" cy="1188721"/>
          </a:xfrm>
          <a:prstGeom prst="line">
            <a:avLst/>
          </a:prstGeom>
          <a:ln w="13970">
            <a:solidFill>
              <a:srgbClr val="0F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8549640" y="1572768"/>
            <a:ext cx="2194560" cy="301751"/>
          </a:xfrm>
          <a:prstGeom prst="line">
            <a:avLst/>
          </a:prstGeom>
          <a:ln w="13970">
            <a:solidFill>
              <a:srgbClr val="0F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0744200" y="1572768"/>
            <a:ext cx="182880" cy="1216152"/>
          </a:xfrm>
          <a:prstGeom prst="line">
            <a:avLst/>
          </a:prstGeom>
          <a:ln w="13970">
            <a:solidFill>
              <a:srgbClr val="0F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8778240" y="2788920"/>
            <a:ext cx="2148840" cy="274320"/>
          </a:xfrm>
          <a:prstGeom prst="line">
            <a:avLst/>
          </a:prstGeom>
          <a:ln w="13970">
            <a:solidFill>
              <a:srgbClr val="0F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8778240" y="3063240"/>
            <a:ext cx="1051560" cy="1143000"/>
          </a:xfrm>
          <a:prstGeom prst="line">
            <a:avLst/>
          </a:prstGeom>
          <a:ln w="13970">
            <a:solidFill>
              <a:srgbClr val="0F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9829800" y="2788920"/>
            <a:ext cx="1097280" cy="1417320"/>
          </a:xfrm>
          <a:prstGeom prst="line">
            <a:avLst/>
          </a:prstGeom>
          <a:ln w="13970">
            <a:solidFill>
              <a:srgbClr val="0F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8449056" y="1773935"/>
            <a:ext cx="201168" cy="201168"/>
          </a:xfrm>
          <a:prstGeom prst="ellipse">
            <a:avLst/>
          </a:prstGeom>
          <a:solidFill>
            <a:srgbClr val="5FD0C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09560" y="2020824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AFC3D4"/>
                </a:solidFill>
                <a:latin typeface="Calibri"/>
              </a:rPr>
              <a:t>задача</a:t>
            </a:r>
          </a:p>
        </p:txBody>
      </p:sp>
      <p:sp>
        <p:nvSpPr>
          <p:cNvPr id="21" name="Oval 20"/>
          <p:cNvSpPr/>
          <p:nvPr/>
        </p:nvSpPr>
        <p:spPr>
          <a:xfrm>
            <a:off x="10643616" y="1472184"/>
            <a:ext cx="201168" cy="201168"/>
          </a:xfrm>
          <a:prstGeom prst="ellipse">
            <a:avLst/>
          </a:prstGeom>
          <a:solidFill>
            <a:srgbClr val="5FD0C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04120" y="171907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AFC3D4"/>
                </a:solidFill>
                <a:latin typeface="Calibri"/>
              </a:rPr>
              <a:t>черновик</a:t>
            </a:r>
          </a:p>
        </p:txBody>
      </p:sp>
      <p:sp>
        <p:nvSpPr>
          <p:cNvPr id="23" name="Oval 22"/>
          <p:cNvSpPr/>
          <p:nvPr/>
        </p:nvSpPr>
        <p:spPr>
          <a:xfrm>
            <a:off x="8677656" y="2962656"/>
            <a:ext cx="201168" cy="201168"/>
          </a:xfrm>
          <a:prstGeom prst="ellipse">
            <a:avLst/>
          </a:prstGeom>
          <a:solidFill>
            <a:srgbClr val="5FD0C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38160" y="3209544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AFC3D4"/>
                </a:solidFill>
                <a:latin typeface="Calibri"/>
              </a:rPr>
              <a:t>одобрение</a:t>
            </a:r>
          </a:p>
        </p:txBody>
      </p:sp>
      <p:sp>
        <p:nvSpPr>
          <p:cNvPr id="25" name="Oval 24"/>
          <p:cNvSpPr/>
          <p:nvPr/>
        </p:nvSpPr>
        <p:spPr>
          <a:xfrm>
            <a:off x="10826496" y="2688336"/>
            <a:ext cx="201168" cy="201168"/>
          </a:xfrm>
          <a:prstGeom prst="ellipse">
            <a:avLst/>
          </a:prstGeom>
          <a:solidFill>
            <a:srgbClr val="5FD0C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87000" y="2935224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AFC3D4"/>
                </a:solidFill>
                <a:latin typeface="Calibri"/>
              </a:rPr>
              <a:t>запись</a:t>
            </a:r>
          </a:p>
        </p:txBody>
      </p:sp>
      <p:sp>
        <p:nvSpPr>
          <p:cNvPr id="27" name="Oval 26"/>
          <p:cNvSpPr/>
          <p:nvPr/>
        </p:nvSpPr>
        <p:spPr>
          <a:xfrm>
            <a:off x="9729216" y="4105655"/>
            <a:ext cx="201168" cy="201168"/>
          </a:xfrm>
          <a:prstGeom prst="ellipse">
            <a:avLst/>
          </a:prstGeom>
          <a:solidFill>
            <a:srgbClr val="5FD0C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89720" y="4352544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AFC3D4"/>
                </a:solidFill>
                <a:latin typeface="Calibri"/>
              </a:rPr>
              <a:t>опыт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594360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FC3D4"/>
                </a:solidFill>
                <a:latin typeface="Calibri"/>
              </a:rPr>
              <a:t>Гродненская область,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63137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0E2438"/>
                </a:solidFill>
                <a:latin typeface="Cambria"/>
              </a:rPr>
              <a:t>Как устроена работа и роли</a:t>
            </a:r>
          </a:p>
        </p:txBody>
      </p:sp>
      <p:cxnSp>
        <p:nvCxnSpPr>
          <p:cNvPr id="3" name="Connector 2"/>
          <p:cNvCxnSpPr/>
          <p:nvPr/>
        </p:nvCxnSpPr>
        <p:spPr>
          <a:xfrm flipV="1">
            <a:off x="10820095" y="466344"/>
            <a:ext cx="384048" cy="310896"/>
          </a:xfrm>
          <a:prstGeom prst="line">
            <a:avLst/>
          </a:prstGeom>
          <a:ln w="12700">
            <a:solidFill>
              <a:srgbClr val="0F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820095" y="777240"/>
            <a:ext cx="768096" cy="0"/>
          </a:xfrm>
          <a:prstGeom prst="line">
            <a:avLst/>
          </a:prstGeom>
          <a:ln w="12700">
            <a:solidFill>
              <a:srgbClr val="0F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1204143" y="466344"/>
            <a:ext cx="384048" cy="310896"/>
          </a:xfrm>
          <a:prstGeom prst="line">
            <a:avLst/>
          </a:prstGeom>
          <a:ln w="12700">
            <a:solidFill>
              <a:srgbClr val="0F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/>
          <p:cNvSpPr/>
          <p:nvPr/>
        </p:nvSpPr>
        <p:spPr>
          <a:xfrm>
            <a:off x="10760659" y="717804"/>
            <a:ext cx="118872" cy="118872"/>
          </a:xfrm>
          <a:prstGeom prst="ellipse">
            <a:avLst/>
          </a:prstGeom>
          <a:solidFill>
            <a:srgbClr val="0F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144707" y="406908"/>
            <a:ext cx="118872" cy="118872"/>
          </a:xfrm>
          <a:prstGeom prst="ellipse">
            <a:avLst/>
          </a:prstGeom>
          <a:solidFill>
            <a:srgbClr val="0F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28755" y="717804"/>
            <a:ext cx="118872" cy="118872"/>
          </a:xfrm>
          <a:prstGeom prst="ellipse">
            <a:avLst/>
          </a:prstGeom>
          <a:solidFill>
            <a:srgbClr val="0F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1298448"/>
            <a:ext cx="4114800" cy="3044952"/>
          </a:xfrm>
          <a:prstGeom prst="roundRect">
            <a:avLst>
              <a:gd name="adj" fmla="val 6000"/>
            </a:avLst>
          </a:prstGeom>
          <a:solidFill>
            <a:srgbClr val="EDF3F8"/>
          </a:solidFill>
          <a:ln>
            <a:noFill/>
          </a:ln>
          <a:effectLst/>
        </p:spPr>
        <p:txBody>
          <a:bodyPr rtlCol="0" anchor="t" wrap="square" lIns="182880" rIns="182880" tIns="128016" bIns="128016"/>
          <a:lstStyle/>
          <a:p>
            <a:pPr algn="l">
              <a:spcAft>
                <a:spcPts val="2000"/>
              </a:spcAft>
            </a:pPr>
            <a:r>
              <a:rPr sz="1600" b="1" i="0">
                <a:solidFill>
                  <a:srgbClr val="0E2438"/>
                </a:solidFill>
                <a:latin typeface="Cambria"/>
              </a:rPr>
              <a:t>Три части системы</a:t>
            </a:r>
          </a:p>
          <a:p>
            <a:pPr algn="l">
              <a:lnSpc>
                <a:spcPct val="115000"/>
              </a:lnSpc>
              <a:spcAft>
                <a:spcPts val="2000"/>
              </a:spcAft>
            </a:pPr>
            <a:r>
              <a:rPr sz="1350" b="0" i="0">
                <a:solidFill>
                  <a:srgbClr val="1D2A38"/>
                </a:solidFill>
                <a:latin typeface="Calibri"/>
              </a:rPr>
              <a:t>Модель предлагает текст и вызовы инструментов</a:t>
            </a:r>
          </a:p>
          <a:p>
            <a:pPr algn="l">
              <a:lnSpc>
                <a:spcPct val="115000"/>
              </a:lnSpc>
              <a:spcAft>
                <a:spcPts val="2000"/>
              </a:spcAft>
            </a:pPr>
            <a:r>
              <a:rPr sz="1350" b="0" i="0">
                <a:solidFill>
                  <a:srgbClr val="1D2A38"/>
                </a:solidFill>
                <a:latin typeface="Calibri"/>
              </a:rPr>
              <a:t>Исполнитель проверяет право на вызов</a:t>
            </a:r>
          </a:p>
          <a:p>
            <a:pPr algn="l">
              <a:lnSpc>
                <a:spcPct val="115000"/>
              </a:lnSpc>
              <a:spcAft>
                <a:spcPts val="2000"/>
              </a:spcAft>
            </a:pPr>
            <a:r>
              <a:rPr sz="1350" b="0" i="0">
                <a:solidFill>
                  <a:srgbClr val="1D2A38"/>
                </a:solidFill>
                <a:latin typeface="Calibri"/>
              </a:rPr>
              <a:t>Память удерживает записи и связи</a:t>
            </a:r>
          </a:p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A6B7B"/>
                </a:solidFill>
                <a:latin typeface="Calibri"/>
              </a:rPr>
              <a:t>Внешние инструменты подключаются по MCP: сервер объявляет инструмент и схему аргументов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56048" y="1298448"/>
            <a:ext cx="320040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FE9F1"/>
            </a:solidFill>
          </a:ln>
          <a:effectLst/>
        </p:spPr>
        <p:txBody>
          <a:bodyPr rtlCol="0" anchor="t" wrap="square" lIns="182880" rIns="182880" tIns="128016" bIns="128016"/>
          <a:lstStyle/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0E2438"/>
                </a:solidFill>
                <a:latin typeface="Cambria"/>
              </a:rPr>
              <a:t>Менеджер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00" b="0" i="0">
                <a:solidFill>
                  <a:srgbClr val="1D2A38"/>
                </a:solidFill>
                <a:latin typeface="Calibri"/>
              </a:rPr>
              <a:t>ведёт разговор и ставит задачу</a:t>
            </a:r>
          </a:p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0F7C86"/>
                </a:solidFill>
                <a:latin typeface="Calibri"/>
              </a:rPr>
              <a:t>права на отправку нет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57616" y="1298448"/>
            <a:ext cx="320040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FE9F1"/>
            </a:solidFill>
          </a:ln>
          <a:effectLst/>
        </p:spPr>
        <p:txBody>
          <a:bodyPr rtlCol="0" anchor="t" wrap="square" lIns="182880" rIns="182880" tIns="128016" bIns="128016"/>
          <a:lstStyle/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0E2438"/>
                </a:solidFill>
                <a:latin typeface="Cambria"/>
              </a:rPr>
              <a:t>Исследователь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00" b="0" i="0">
                <a:solidFill>
                  <a:srgbClr val="1D2A38"/>
                </a:solidFill>
                <a:latin typeface="Calibri"/>
              </a:rPr>
              <a:t>ищет и читает</a:t>
            </a:r>
          </a:p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0F7C86"/>
                </a:solidFill>
                <a:latin typeface="Calibri"/>
              </a:rPr>
              <a:t>права на отправку нет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956048" y="2926080"/>
            <a:ext cx="320040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FE9F1"/>
            </a:solidFill>
          </a:ln>
          <a:effectLst/>
        </p:spPr>
        <p:txBody>
          <a:bodyPr rtlCol="0" anchor="t" wrap="square" lIns="182880" rIns="182880" tIns="128016" bIns="128016"/>
          <a:lstStyle/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0E2438"/>
                </a:solidFill>
                <a:latin typeface="Cambria"/>
              </a:rPr>
              <a:t>Исполнитель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00" b="0" i="0">
                <a:solidFill>
                  <a:srgbClr val="1D2A38"/>
                </a:solidFill>
                <a:latin typeface="Calibri"/>
              </a:rPr>
              <a:t>выполняет и получает право на отправку</a:t>
            </a:r>
          </a:p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0F7C86"/>
                </a:solidFill>
                <a:latin typeface="Calibri"/>
              </a:rPr>
              <a:t>роль записана в задаче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57616" y="2926080"/>
            <a:ext cx="320040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FE9F1"/>
            </a:solidFill>
          </a:ln>
          <a:effectLst/>
        </p:spPr>
        <p:txBody>
          <a:bodyPr rtlCol="0" anchor="t" wrap="square" lIns="182880" rIns="182880" tIns="128016" bIns="128016"/>
          <a:lstStyle/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0E2438"/>
                </a:solidFill>
                <a:latin typeface="Cambria"/>
              </a:rPr>
              <a:t>Права различаются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00" b="0" i="0">
                <a:solidFill>
                  <a:srgbClr val="1D2A38"/>
                </a:solidFill>
                <a:latin typeface="Calibri"/>
              </a:rPr>
              <a:t>каждая роль видит только свои инструменты</a:t>
            </a:r>
          </a:p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0F7C86"/>
                </a:solidFill>
                <a:latin typeface="Calibri"/>
              </a:rPr>
              <a:t>граница объявлена в коде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645152"/>
            <a:ext cx="11094415" cy="1170432"/>
          </a:xfrm>
          <a:prstGeom prst="roundRect">
            <a:avLst>
              <a:gd name="adj" fmla="val 6000"/>
            </a:avLst>
          </a:prstGeom>
          <a:solidFill>
            <a:srgbClr val="DFE9F1"/>
          </a:solidFill>
          <a:ln>
            <a:noFill/>
          </a:ln>
          <a:effectLst/>
        </p:spPr>
        <p:txBody>
          <a:bodyPr rtlCol="0" anchor="t" wrap="square" lIns="182880" rIns="182880" tIns="128016" bIns="128016"/>
          <a:lstStyle/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0E2438"/>
                </a:solidFill>
                <a:latin typeface="Calibri"/>
              </a:rPr>
              <a:t>Пакет изменений не вливается сам: одобрение привязано к точному вызову с точными аргументами.</a:t>
            </a:r>
          </a:p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5A6B7B"/>
                </a:solidFill>
                <a:latin typeface="Calibri"/>
              </a:rPr>
              <a:t>Изменился адресат или текст — человек решает заново. Роль записана в самой задаче, поэтому видно, кто её выполнял.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382512"/>
            <a:ext cx="101800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A6B7B"/>
                </a:solidFill>
                <a:latin typeface="Calibri"/>
              </a:rPr>
              <a:t>python/oneiro/tools.py (ROLE_EFFECTS) · python/oneiro/records.py (Approval.covers) · python/oneiro/tasks.py (ROLES)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11535" y="63825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5A6B7B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63137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0E2438"/>
                </a:solidFill>
                <a:latin typeface="Cambria"/>
              </a:rPr>
              <a:t>Память: типизированные записи и происхождение</a:t>
            </a:r>
          </a:p>
        </p:txBody>
      </p:sp>
      <p:cxnSp>
        <p:nvCxnSpPr>
          <p:cNvPr id="3" name="Connector 2"/>
          <p:cNvCxnSpPr/>
          <p:nvPr/>
        </p:nvCxnSpPr>
        <p:spPr>
          <a:xfrm flipV="1">
            <a:off x="10820095" y="466344"/>
            <a:ext cx="384048" cy="310896"/>
          </a:xfrm>
          <a:prstGeom prst="line">
            <a:avLst/>
          </a:prstGeom>
          <a:ln w="12700">
            <a:solidFill>
              <a:srgbClr val="0F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820095" y="777240"/>
            <a:ext cx="768096" cy="0"/>
          </a:xfrm>
          <a:prstGeom prst="line">
            <a:avLst/>
          </a:prstGeom>
          <a:ln w="12700">
            <a:solidFill>
              <a:srgbClr val="0F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1204143" y="466344"/>
            <a:ext cx="384048" cy="310896"/>
          </a:xfrm>
          <a:prstGeom prst="line">
            <a:avLst/>
          </a:prstGeom>
          <a:ln w="12700">
            <a:solidFill>
              <a:srgbClr val="0F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/>
          <p:cNvSpPr/>
          <p:nvPr/>
        </p:nvSpPr>
        <p:spPr>
          <a:xfrm>
            <a:off x="10760659" y="717804"/>
            <a:ext cx="118872" cy="118872"/>
          </a:xfrm>
          <a:prstGeom prst="ellipse">
            <a:avLst/>
          </a:prstGeom>
          <a:solidFill>
            <a:srgbClr val="0F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144707" y="406908"/>
            <a:ext cx="118872" cy="118872"/>
          </a:xfrm>
          <a:prstGeom prst="ellipse">
            <a:avLst/>
          </a:prstGeom>
          <a:solidFill>
            <a:srgbClr val="0F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28755" y="717804"/>
            <a:ext cx="118872" cy="118872"/>
          </a:xfrm>
          <a:prstGeom prst="ellipse">
            <a:avLst/>
          </a:prstGeom>
          <a:solidFill>
            <a:srgbClr val="0F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280160"/>
            <a:ext cx="5760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E2438"/>
                </a:solidFill>
                <a:latin typeface="Cambria"/>
              </a:rPr>
              <a:t>Виды записей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691640"/>
            <a:ext cx="1335024" cy="457200"/>
          </a:xfrm>
          <a:prstGeom prst="roundRect">
            <a:avLst>
              <a:gd name="adj" fmla="val 18000"/>
            </a:avLst>
          </a:prstGeom>
          <a:solidFill>
            <a:srgbClr val="EDF3F8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  <a:r>
              <a:rPr sz="1050" b="0" i="0">
                <a:solidFill>
                  <a:srgbClr val="1D2A38"/>
                </a:solidFill>
                <a:latin typeface="Calibri"/>
              </a:rPr>
              <a:t>сообщение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993392" y="1691640"/>
            <a:ext cx="1335024" cy="457200"/>
          </a:xfrm>
          <a:prstGeom prst="roundRect">
            <a:avLst>
              <a:gd name="adj" fmla="val 18000"/>
            </a:avLst>
          </a:prstGeom>
          <a:solidFill>
            <a:srgbClr val="EDF3F8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  <a:r>
              <a:rPr sz="1050" b="0" i="0">
                <a:solidFill>
                  <a:srgbClr val="1D2A38"/>
                </a:solidFill>
                <a:latin typeface="Calibri"/>
              </a:rPr>
              <a:t>задача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38144" y="1691640"/>
            <a:ext cx="1335024" cy="457200"/>
          </a:xfrm>
          <a:prstGeom prst="roundRect">
            <a:avLst>
              <a:gd name="adj" fmla="val 18000"/>
            </a:avLst>
          </a:prstGeom>
          <a:solidFill>
            <a:srgbClr val="EDF3F8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  <a:r>
              <a:rPr sz="1050" b="0" i="0">
                <a:solidFill>
                  <a:srgbClr val="1D2A38"/>
                </a:solidFill>
                <a:latin typeface="Calibri"/>
              </a:rPr>
              <a:t>действие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82896" y="1691640"/>
            <a:ext cx="1335024" cy="457200"/>
          </a:xfrm>
          <a:prstGeom prst="roundRect">
            <a:avLst>
              <a:gd name="adj" fmla="val 18000"/>
            </a:avLst>
          </a:prstGeom>
          <a:solidFill>
            <a:srgbClr val="EDF3F8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  <a:r>
              <a:rPr sz="1050" b="0" i="0">
                <a:solidFill>
                  <a:srgbClr val="1D2A38"/>
                </a:solidFill>
                <a:latin typeface="Calibri"/>
              </a:rPr>
              <a:t>одобрение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295144"/>
            <a:ext cx="1335024" cy="457200"/>
          </a:xfrm>
          <a:prstGeom prst="roundRect">
            <a:avLst>
              <a:gd name="adj" fmla="val 18000"/>
            </a:avLst>
          </a:prstGeom>
          <a:solidFill>
            <a:srgbClr val="EDF3F8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  <a:r>
              <a:rPr sz="1050" b="0" i="0">
                <a:solidFill>
                  <a:srgbClr val="1D2A38"/>
                </a:solidFill>
                <a:latin typeface="Calibri"/>
              </a:rPr>
              <a:t>наблюдение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993392" y="2295144"/>
            <a:ext cx="1335024" cy="457200"/>
          </a:xfrm>
          <a:prstGeom prst="roundRect">
            <a:avLst>
              <a:gd name="adj" fmla="val 18000"/>
            </a:avLst>
          </a:prstGeom>
          <a:solidFill>
            <a:srgbClr val="EDF3F8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  <a:r>
              <a:rPr sz="1050" b="0" i="0">
                <a:solidFill>
                  <a:srgbClr val="1D2A38"/>
                </a:solidFill>
                <a:latin typeface="Calibri"/>
              </a:rPr>
              <a:t>опыт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38144" y="2295144"/>
            <a:ext cx="1335024" cy="457200"/>
          </a:xfrm>
          <a:prstGeom prst="roundRect">
            <a:avLst>
              <a:gd name="adj" fmla="val 18000"/>
            </a:avLst>
          </a:prstGeom>
          <a:solidFill>
            <a:srgbClr val="EDF3F8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  <a:r>
              <a:rPr sz="1050" b="0" i="0">
                <a:solidFill>
                  <a:srgbClr val="1D2A38"/>
                </a:solidFill>
                <a:latin typeface="Calibri"/>
              </a:rPr>
              <a:t>заметка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82896" y="2295144"/>
            <a:ext cx="1335024" cy="457200"/>
          </a:xfrm>
          <a:prstGeom prst="roundRect">
            <a:avLst>
              <a:gd name="adj" fmla="val 18000"/>
            </a:avLst>
          </a:prstGeom>
          <a:solidFill>
            <a:srgbClr val="EDF3F8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  <a:r>
              <a:rPr sz="1050" b="0" i="0">
                <a:solidFill>
                  <a:srgbClr val="1D2A38"/>
                </a:solidFill>
                <a:latin typeface="Calibri"/>
              </a:rPr>
              <a:t>курируемый факт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063240"/>
            <a:ext cx="57607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1000"/>
              </a:spcAft>
            </a:pPr>
            <a:r>
              <a:rPr sz="1350" b="0" i="0">
                <a:solidFill>
                  <a:srgbClr val="1D2A38"/>
                </a:solidFill>
                <a:latin typeface="Calibri"/>
              </a:rPr>
              <a:t>Больше всего мне важны решения и ошибки: по ним видно, как система работала и где ошибалась.</a:t>
            </a:r>
          </a:p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5A6B7B"/>
                </a:solidFill>
                <a:latin typeface="Calibri"/>
              </a:rPr>
              <a:t>Запись — не строка журнала переписки: у неё есть вид, источник и связи с другими записями.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1280160"/>
            <a:ext cx="50566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E2438"/>
                </a:solidFill>
                <a:latin typeface="Cambria"/>
              </a:rPr>
              <a:t>Происхождение записи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0" y="1691640"/>
            <a:ext cx="5056632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FE9F1"/>
            </a:solidFill>
          </a:ln>
          <a:effectLst/>
        </p:spPr>
        <p:txBody>
          <a:bodyPr rtlCol="0" anchor="t" wrap="square" lIns="182880" rIns="182880" tIns="128016" bIns="128016"/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0E2438"/>
                </a:solidFill>
                <a:latin typeface="Calibri"/>
              </a:rPr>
              <a:t>сказал владелец</a:t>
            </a:r>
          </a:p>
          <a:p>
            <a:pPr algn="l"/>
            <a:r>
              <a:rPr sz="1050" b="0" i="0">
                <a:solidFill>
                  <a:srgbClr val="5A6B7B"/>
                </a:solidFill>
                <a:latin typeface="Calibri"/>
              </a:rPr>
              <a:t>указание владельца: это утверждение человека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0" y="2404872"/>
            <a:ext cx="5056632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FE9F1"/>
            </a:solidFill>
          </a:ln>
          <a:effectLst/>
        </p:spPr>
        <p:txBody>
          <a:bodyPr rtlCol="0" anchor="t" wrap="square" lIns="182880" rIns="182880" tIns="128016" bIns="128016"/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0E2438"/>
                </a:solidFill>
                <a:latin typeface="Calibri"/>
              </a:rPr>
              <a:t>заявила модель</a:t>
            </a:r>
          </a:p>
          <a:p>
            <a:pPr algn="l"/>
            <a:r>
              <a:rPr sz="1050" b="0" i="0">
                <a:solidFill>
                  <a:srgbClr val="5A6B7B"/>
                </a:solidFill>
                <a:latin typeface="Calibri"/>
              </a:rPr>
              <a:t>утверждение модели, а не проверенное доказательство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0" y="3118104"/>
            <a:ext cx="5056632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FE9F1"/>
            </a:solidFill>
          </a:ln>
          <a:effectLst/>
        </p:spPr>
        <p:txBody>
          <a:bodyPr rtlCol="0" anchor="t" wrap="square" lIns="182880" rIns="182880" tIns="128016" bIns="128016"/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0E2438"/>
                </a:solidFill>
                <a:latin typeface="Calibri"/>
              </a:rPr>
              <a:t>наблюдал инструмент</a:t>
            </a:r>
          </a:p>
          <a:p>
            <a:pPr algn="l"/>
            <a:r>
              <a:rPr sz="1050" b="0" i="0">
                <a:solidFill>
                  <a:srgbClr val="5A6B7B"/>
                </a:solidFill>
                <a:latin typeface="Calibri"/>
              </a:rPr>
              <a:t>наблюдение: то, что видел вызов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0" y="3831335"/>
            <a:ext cx="5056632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FE9F1"/>
            </a:solidFill>
          </a:ln>
          <a:effectLst/>
        </p:spPr>
        <p:txBody>
          <a:bodyPr rtlCol="0" anchor="t" wrap="square" lIns="182880" rIns="182880" tIns="128016" bIns="128016"/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0E2438"/>
                </a:solidFill>
                <a:latin typeface="Calibri"/>
              </a:rPr>
              <a:t>проверил результат вызова</a:t>
            </a:r>
          </a:p>
          <a:p>
            <a:pPr algn="l"/>
            <a:r>
              <a:rPr sz="1050" b="0" i="0">
                <a:solidFill>
                  <a:srgbClr val="5A6B7B"/>
                </a:solidFill>
                <a:latin typeface="Calibri"/>
              </a:rPr>
              <a:t>проверенный результат, а не обещание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526280"/>
            <a:ext cx="5760720" cy="1170432"/>
          </a:xfrm>
          <a:prstGeom prst="roundRect">
            <a:avLst>
              <a:gd name="adj" fmla="val 6000"/>
            </a:avLst>
          </a:prstGeom>
          <a:solidFill>
            <a:srgbClr val="DFE9F1"/>
          </a:solidFill>
          <a:ln>
            <a:noFill/>
          </a:ln>
          <a:effectLst/>
        </p:spPr>
        <p:txBody>
          <a:bodyPr rtlCol="0" anchor="t" wrap="square" lIns="182880" rIns="182880" tIns="128016" bIns="128016"/>
          <a:lstStyle/>
          <a:p>
            <a:pPr algn="l">
              <a:spcAft>
                <a:spcPts val="500"/>
              </a:spcAft>
            </a:pPr>
            <a:r>
              <a:rPr sz="1350" b="1" i="0">
                <a:solidFill>
                  <a:srgbClr val="0E2438"/>
                </a:solidFill>
                <a:latin typeface="Cambria"/>
              </a:rPr>
              <a:t>Связи</a:t>
            </a:r>
          </a:p>
          <a:p>
            <a:pPr algn="l">
              <a:lnSpc>
                <a:spcPct val="118000"/>
              </a:lnSpc>
            </a:pPr>
            <a:r>
              <a:rPr sz="1150" b="0" i="0">
                <a:solidFill>
                  <a:srgbClr val="1D2A38"/>
                </a:solidFill>
                <a:latin typeface="Calibri"/>
              </a:rPr>
              <a:t>Задача связана с запуском, запуск — с действием, одобрение — с точным вызовом. По этим связям видно, откуда взялась запись и что за ней последовало.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0" y="4526280"/>
            <a:ext cx="5056632" cy="1170432"/>
          </a:xfrm>
          <a:prstGeom prst="roundRect">
            <a:avLst>
              <a:gd name="adj" fmla="val 6000"/>
            </a:avLst>
          </a:prstGeom>
          <a:solidFill>
            <a:srgbClr val="DFE9F1"/>
          </a:solidFill>
          <a:ln>
            <a:noFill/>
          </a:ln>
          <a:effectLst/>
        </p:spPr>
        <p:txBody>
          <a:bodyPr rtlCol="0" anchor="t" wrap="square" lIns="182880" rIns="182880" tIns="128016" bIns="128016"/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250" b="0" i="0">
                <a:solidFill>
                  <a:srgbClr val="1D2A38"/>
                </a:solidFill>
                <a:latin typeface="Calibri"/>
              </a:rPr>
              <a:t>У каждой записи есть дата создания и дата изменения.</a:t>
            </a:r>
          </a:p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1D2A38"/>
                </a:solidFill>
                <a:latin typeface="Calibri"/>
              </a:rPr>
              <a:t>По источнику видно, можно ли опираться на запись.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382512"/>
            <a:ext cx="101800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A6B7B"/>
                </a:solidFill>
                <a:latin typeface="Calibri"/>
              </a:rPr>
              <a:t>python/oneiro/records.py (Provenance) · python/oneiro/agent.py (remember → MODEL_CLAIM)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11535" y="63825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5A6B7B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63137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0E2438"/>
                </a:solidFill>
                <a:latin typeface="Cambria"/>
              </a:rPr>
              <a:t>Правка не стирает прежнее значение</a:t>
            </a:r>
          </a:p>
        </p:txBody>
      </p:sp>
      <p:cxnSp>
        <p:nvCxnSpPr>
          <p:cNvPr id="3" name="Connector 2"/>
          <p:cNvCxnSpPr/>
          <p:nvPr/>
        </p:nvCxnSpPr>
        <p:spPr>
          <a:xfrm flipV="1">
            <a:off x="10820095" y="466344"/>
            <a:ext cx="384048" cy="310896"/>
          </a:xfrm>
          <a:prstGeom prst="line">
            <a:avLst/>
          </a:prstGeom>
          <a:ln w="12700">
            <a:solidFill>
              <a:srgbClr val="0F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820095" y="777240"/>
            <a:ext cx="768096" cy="0"/>
          </a:xfrm>
          <a:prstGeom prst="line">
            <a:avLst/>
          </a:prstGeom>
          <a:ln w="12700">
            <a:solidFill>
              <a:srgbClr val="0F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1204143" y="466344"/>
            <a:ext cx="384048" cy="310896"/>
          </a:xfrm>
          <a:prstGeom prst="line">
            <a:avLst/>
          </a:prstGeom>
          <a:ln w="12700">
            <a:solidFill>
              <a:srgbClr val="0F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/>
          <p:cNvSpPr/>
          <p:nvPr/>
        </p:nvSpPr>
        <p:spPr>
          <a:xfrm>
            <a:off x="10760659" y="717804"/>
            <a:ext cx="118872" cy="118872"/>
          </a:xfrm>
          <a:prstGeom prst="ellipse">
            <a:avLst/>
          </a:prstGeom>
          <a:solidFill>
            <a:srgbClr val="0F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144707" y="406908"/>
            <a:ext cx="118872" cy="118872"/>
          </a:xfrm>
          <a:prstGeom prst="ellipse">
            <a:avLst/>
          </a:prstGeom>
          <a:solidFill>
            <a:srgbClr val="0F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28755" y="717804"/>
            <a:ext cx="118872" cy="118872"/>
          </a:xfrm>
          <a:prstGeom prst="ellipse">
            <a:avLst/>
          </a:prstGeom>
          <a:solidFill>
            <a:srgbClr val="0F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1325880"/>
            <a:ext cx="585216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FE9F1"/>
            </a:solidFill>
          </a:ln>
          <a:effectLst/>
        </p:spPr>
        <p:txBody>
          <a:bodyPr rtlCol="0" anchor="t" wrap="square" lIns="182880" rIns="182880" tIns="128016" bIns="128016"/>
          <a:lstStyle/>
          <a:p>
            <a:pPr algn="l">
              <a:spcAft>
                <a:spcPts val="500"/>
              </a:spcAft>
            </a:pPr>
            <a:r>
              <a:rPr sz="1450" b="1" i="0">
                <a:solidFill>
                  <a:srgbClr val="0E2438"/>
                </a:solidFill>
                <a:latin typeface="Calibri"/>
              </a:rPr>
              <a:t>Владелец пишет по-русски и по-английски</a:t>
            </a:r>
          </a:p>
          <a:p>
            <a:pPr algn="l"/>
            <a:r>
              <a:rPr sz="1050" b="0" i="0">
                <a:solidFill>
                  <a:srgbClr val="5A6B7B"/>
                </a:solidFill>
                <a:latin typeface="Calibri"/>
              </a:rPr>
              <a:t>источник: указание владельца · записан: 2026-10-13 01:29 · изменён: 2026-10-13 01:29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248716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0F7C86"/>
                </a:solidFill>
                <a:latin typeface="Calibri"/>
              </a:rPr>
              <a:t>правка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474720" y="2542032"/>
            <a:ext cx="0" cy="512064"/>
          </a:xfrm>
          <a:prstGeom prst="line">
            <a:avLst/>
          </a:prstGeom>
          <a:ln w="15875">
            <a:solidFill>
              <a:srgbClr val="0F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48640" y="3127248"/>
            <a:ext cx="5852160" cy="1280160"/>
          </a:xfrm>
          <a:prstGeom prst="roundRect">
            <a:avLst>
              <a:gd name="adj" fmla="val 6000"/>
            </a:avLst>
          </a:prstGeom>
          <a:solidFill>
            <a:srgbClr val="EDF3F8"/>
          </a:solidFill>
          <a:ln>
            <a:noFill/>
          </a:ln>
          <a:effectLst/>
        </p:spPr>
        <p:txBody>
          <a:bodyPr rtlCol="0" anchor="t" wrap="square" lIns="182880" rIns="182880" tIns="128016" bIns="128016"/>
          <a:lstStyle/>
          <a:p>
            <a:pPr algn="l">
              <a:spcAft>
                <a:spcPts val="800"/>
              </a:spcAft>
            </a:pPr>
            <a:r>
              <a:rPr sz="1150" b="0" i="0">
                <a:solidFill>
                  <a:srgbClr val="5A6B7B"/>
                </a:solidFill>
                <a:latin typeface="Calibri"/>
              </a:rPr>
              <a:t>Прежнее значение — остаётся в записи с датой и источником</a:t>
            </a:r>
          </a:p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0E2438"/>
                </a:solidFill>
                <a:latin typeface="Calibri"/>
              </a:rPr>
              <a:t>Владелец пишет по-русски</a:t>
            </a:r>
          </a:p>
          <a:p>
            <a:pPr algn="l"/>
            <a:r>
              <a:rPr sz="1050" b="0" i="0">
                <a:solidFill>
                  <a:srgbClr val="5A6B7B"/>
                </a:solidFill>
                <a:latin typeface="Calibri"/>
              </a:rPr>
              <a:t>источник: указание владельца · изменён: 2026-10-13 01:29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0" y="1325880"/>
            <a:ext cx="4873752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1" i="0">
                <a:solidFill>
                  <a:srgbClr val="0E2438"/>
                </a:solidFill>
                <a:latin typeface="Cambria"/>
              </a:rPr>
              <a:t>Что делает система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350" b="0" i="0">
                <a:solidFill>
                  <a:srgbClr val="1D2A38"/>
                </a:solidFill>
                <a:latin typeface="Calibri"/>
              </a:rPr>
              <a:t>Старая редакция того же факта остаётся рядом — со своей датой и своим источником.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350" b="0" i="0">
                <a:solidFill>
                  <a:srgbClr val="1D2A38"/>
                </a:solidFill>
                <a:latin typeface="Calibri"/>
              </a:rPr>
              <a:t>Панель называет, прочитана ли история записей целиком: оборванное чтение не выглядит полным.</a:t>
            </a:r>
          </a:p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5A6B7B"/>
                </a:solidFill>
                <a:latin typeface="Calibri"/>
              </a:rPr>
              <a:t>Помечается прежняя редакция того же факта. Суждения о совместимости двух разных записей нет: обосновать его система не может, и видимость пометки была бы хуже её отсутствия.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617720"/>
            <a:ext cx="11094415" cy="1188720"/>
          </a:xfrm>
          <a:prstGeom prst="roundRect">
            <a:avLst>
              <a:gd name="adj" fmla="val 6000"/>
            </a:avLst>
          </a:prstGeom>
          <a:solidFill>
            <a:srgbClr val="DFE9F1"/>
          </a:solidFill>
          <a:ln>
            <a:noFill/>
          </a:ln>
          <a:effectLst/>
        </p:spPr>
        <p:txBody>
          <a:bodyPr rtlCol="0" anchor="t" wrap="square" lIns="182880" rIns="182880" tIns="128016" bIns="128016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1" i="0">
                <a:solidFill>
                  <a:srgbClr val="0E2438"/>
                </a:solidFill>
                <a:latin typeface="Calibri"/>
              </a:rPr>
              <a:t>Как это проверено: живая проверка записывает факт, правит его и читает раздел обратно — 22 шага, код 0.</a:t>
            </a:r>
          </a:p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5A6B7B"/>
                </a:solidFill>
                <a:latin typeface="Calibri"/>
              </a:rPr>
              <a:t>Предел курируемой памяти — 2000 символов, и он проверяется до записи: если сохранённое не удаётся прочитать целиком, запись отказывается.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382512"/>
            <a:ext cx="101800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A6B7B"/>
                </a:solidFill>
                <a:latin typeface="Calibri"/>
              </a:rPr>
              <a:t>python/oneiro/recall.py (history_complete) · tests/live_memory_check.py — 22 шага, код 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11535" y="63825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5A6B7B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63137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0E2438"/>
                </a:solidFill>
                <a:latin typeface="Cambria"/>
              </a:rPr>
              <a:t>Что даёт память: три числа свежего замера</a:t>
            </a:r>
          </a:p>
        </p:txBody>
      </p:sp>
      <p:cxnSp>
        <p:nvCxnSpPr>
          <p:cNvPr id="3" name="Connector 2"/>
          <p:cNvCxnSpPr/>
          <p:nvPr/>
        </p:nvCxnSpPr>
        <p:spPr>
          <a:xfrm flipV="1">
            <a:off x="10820095" y="466344"/>
            <a:ext cx="384048" cy="310896"/>
          </a:xfrm>
          <a:prstGeom prst="line">
            <a:avLst/>
          </a:prstGeom>
          <a:ln w="12700">
            <a:solidFill>
              <a:srgbClr val="0F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820095" y="777240"/>
            <a:ext cx="768096" cy="0"/>
          </a:xfrm>
          <a:prstGeom prst="line">
            <a:avLst/>
          </a:prstGeom>
          <a:ln w="12700">
            <a:solidFill>
              <a:srgbClr val="0F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1204143" y="466344"/>
            <a:ext cx="384048" cy="310896"/>
          </a:xfrm>
          <a:prstGeom prst="line">
            <a:avLst/>
          </a:prstGeom>
          <a:ln w="12700">
            <a:solidFill>
              <a:srgbClr val="0F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/>
          <p:cNvSpPr/>
          <p:nvPr/>
        </p:nvSpPr>
        <p:spPr>
          <a:xfrm>
            <a:off x="10760659" y="717804"/>
            <a:ext cx="118872" cy="118872"/>
          </a:xfrm>
          <a:prstGeom prst="ellipse">
            <a:avLst/>
          </a:prstGeom>
          <a:solidFill>
            <a:srgbClr val="0F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144707" y="406908"/>
            <a:ext cx="118872" cy="118872"/>
          </a:xfrm>
          <a:prstGeom prst="ellipse">
            <a:avLst/>
          </a:prstGeom>
          <a:solidFill>
            <a:srgbClr val="0F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28755" y="717804"/>
            <a:ext cx="118872" cy="118872"/>
          </a:xfrm>
          <a:prstGeom prst="ellipse">
            <a:avLst/>
          </a:prstGeom>
          <a:solidFill>
            <a:srgbClr val="0F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1325880"/>
            <a:ext cx="3547872" cy="1965960"/>
          </a:xfrm>
          <a:prstGeom prst="roundRect">
            <a:avLst>
              <a:gd name="adj" fmla="val 6000"/>
            </a:avLst>
          </a:prstGeom>
          <a:solidFill>
            <a:srgbClr val="EDF3F8"/>
          </a:solidFill>
          <a:ln>
            <a:noFill/>
          </a:ln>
          <a:effectLst/>
        </p:spPr>
        <p:txBody>
          <a:bodyPr rtlCol="0" anchor="t" wrap="square" lIns="182880" rIns="182880" tIns="128016" bIns="128016"/>
          <a:lstStyle/>
          <a:p>
            <a:pPr algn="l">
              <a:spcAft>
                <a:spcPts val="400"/>
              </a:spcAft>
            </a:pPr>
            <a:r>
              <a:rPr sz="4400" b="1" i="0">
                <a:solidFill>
                  <a:srgbClr val="0F7C86"/>
                </a:solidFill>
                <a:latin typeface="Cambria"/>
              </a:rPr>
              <a:t>0,74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0E2438"/>
                </a:solidFill>
                <a:latin typeface="Calibri"/>
              </a:rPr>
              <a:t>верных ответов с графом</a:t>
            </a:r>
          </a:p>
          <a:p>
            <a:pPr algn="l"/>
            <a:r>
              <a:rPr sz="1100" b="0" i="0">
                <a:solidFill>
                  <a:srgbClr val="5A6B7B"/>
                </a:solidFill>
                <a:latin typeface="Calibri"/>
              </a:rPr>
              <a:t>память типизированными записями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5112" y="1325880"/>
            <a:ext cx="3547872" cy="1965960"/>
          </a:xfrm>
          <a:prstGeom prst="roundRect">
            <a:avLst>
              <a:gd name="adj" fmla="val 6000"/>
            </a:avLst>
          </a:prstGeom>
          <a:solidFill>
            <a:srgbClr val="EDF3F8"/>
          </a:solidFill>
          <a:ln>
            <a:noFill/>
          </a:ln>
          <a:effectLst/>
        </p:spPr>
        <p:txBody>
          <a:bodyPr rtlCol="0" anchor="t" wrap="square" lIns="182880" rIns="182880" tIns="128016" bIns="128016"/>
          <a:lstStyle/>
          <a:p>
            <a:pPr algn="l">
              <a:spcAft>
                <a:spcPts val="400"/>
              </a:spcAft>
            </a:pPr>
            <a:r>
              <a:rPr sz="4400" b="1" i="0">
                <a:solidFill>
                  <a:srgbClr val="0F7C86"/>
                </a:solidFill>
                <a:latin typeface="Cambria"/>
              </a:rPr>
              <a:t>0,76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0E2438"/>
                </a:solidFill>
                <a:latin typeface="Calibri"/>
              </a:rPr>
              <a:t>верных ответов с журналом</a:t>
            </a:r>
          </a:p>
          <a:p>
            <a:pPr algn="l"/>
            <a:r>
              <a:rPr sz="1100" b="0" i="0">
                <a:solidFill>
                  <a:srgbClr val="5A6B7B"/>
                </a:solidFill>
                <a:latin typeface="Calibri"/>
              </a:rPr>
              <a:t>тот же материал одним текстом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01583" y="1325880"/>
            <a:ext cx="3547872" cy="1965960"/>
          </a:xfrm>
          <a:prstGeom prst="roundRect">
            <a:avLst>
              <a:gd name="adj" fmla="val 6000"/>
            </a:avLst>
          </a:prstGeom>
          <a:solidFill>
            <a:srgbClr val="EDF3F8"/>
          </a:solidFill>
          <a:ln>
            <a:noFill/>
          </a:ln>
          <a:effectLst/>
        </p:spPr>
        <p:txBody>
          <a:bodyPr rtlCol="0" anchor="t" wrap="square" lIns="182880" rIns="182880" tIns="128016" bIns="128016"/>
          <a:lstStyle/>
          <a:p>
            <a:pPr algn="l">
              <a:spcAft>
                <a:spcPts val="400"/>
              </a:spcAft>
            </a:pPr>
            <a:r>
              <a:rPr sz="4400" b="1" i="0">
                <a:solidFill>
                  <a:srgbClr val="0F7C86"/>
                </a:solidFill>
                <a:latin typeface="Cambria"/>
              </a:rPr>
              <a:t>0,08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0E2438"/>
                </a:solidFill>
                <a:latin typeface="Calibri"/>
              </a:rPr>
              <a:t>верных ответов без памяти</a:t>
            </a:r>
          </a:p>
          <a:p>
            <a:pPr algn="l"/>
            <a:r>
              <a:rPr sz="1100" b="0" i="0">
                <a:solidFill>
                  <a:srgbClr val="5A6B7B"/>
                </a:solidFill>
                <a:latin typeface="Calibri"/>
              </a:rPr>
              <a:t>тот же вопрос, память отключена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401568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5A6B7B"/>
                </a:solidFill>
                <a:latin typeface="Calibri"/>
              </a:rPr>
              <a:t>LongMemEval, 50 вопросов, свежий прогон на текущем коде; верных ответов — доля клеток, которым судья вынес вердикт. Два хранилища идут вровень, а разница с памятью и без неё — сорокакратная.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977639"/>
            <a:ext cx="5394960" cy="1645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FE9F1"/>
            </a:solidFill>
          </a:ln>
          <a:effectLst/>
        </p:spPr>
        <p:txBody>
          <a:bodyPr rtlCol="0" anchor="t" wrap="square" lIns="182880" rIns="182880" tIns="128016" bIns="128016"/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E2438"/>
                </a:solidFill>
                <a:latin typeface="Calibri"/>
              </a:rPr>
              <a:t>Слабее всего — вопросы про предпочтения</a:t>
            </a:r>
          </a:p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5A6B7B"/>
                </a:solidFill>
                <a:latin typeface="Calibri"/>
              </a:rPr>
              <a:t>Полнота попадания 0,50 против 0,86 и 0,88 в целом; вопросы про время тоже ниже общего счёта. Это ограничение, а не победа.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53912" y="3977639"/>
            <a:ext cx="5394960" cy="1645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FE9F1"/>
            </a:solidFill>
          </a:ln>
          <a:effectLst/>
        </p:spPr>
        <p:txBody>
          <a:bodyPr rtlCol="0" anchor="t" wrap="square" lIns="182880" rIns="182880" tIns="128016" bIns="128016"/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E2438"/>
                </a:solidFill>
                <a:latin typeface="Calibri"/>
              </a:rPr>
              <a:t>Поиск по памяти — по словам и связям</a:t>
            </a:r>
          </a:p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5A6B7B"/>
                </a:solidFill>
                <a:latin typeface="Calibri"/>
              </a:rPr>
              <a:t>Поиск «по смыслу» — цель, а не сделанное. Одна клетка из ста пятидесяти осталась без вердикта: провайдер отказал, и она названа.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382512"/>
            <a:ext cx="101800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A6B7B"/>
                </a:solidFill>
                <a:latin typeface="Calibri"/>
              </a:rPr>
              <a:t>~/.openclaw/bench-memory/runs/s-50-8-report.md (свежий прогон, 50 вопросов) · bench/memory/run.py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11535" y="63825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5A6B7B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63137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0E2438"/>
                </a:solidFill>
                <a:latin typeface="Cambria"/>
              </a:rPr>
              <a:t>Раздел памяти в панели</a:t>
            </a:r>
          </a:p>
        </p:txBody>
      </p:sp>
      <p:cxnSp>
        <p:nvCxnSpPr>
          <p:cNvPr id="3" name="Connector 2"/>
          <p:cNvCxnSpPr/>
          <p:nvPr/>
        </p:nvCxnSpPr>
        <p:spPr>
          <a:xfrm flipV="1">
            <a:off x="10820095" y="466344"/>
            <a:ext cx="384048" cy="310896"/>
          </a:xfrm>
          <a:prstGeom prst="line">
            <a:avLst/>
          </a:prstGeom>
          <a:ln w="12700">
            <a:solidFill>
              <a:srgbClr val="0F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820095" y="777240"/>
            <a:ext cx="768096" cy="0"/>
          </a:xfrm>
          <a:prstGeom prst="line">
            <a:avLst/>
          </a:prstGeom>
          <a:ln w="12700">
            <a:solidFill>
              <a:srgbClr val="0F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1204143" y="466344"/>
            <a:ext cx="384048" cy="310896"/>
          </a:xfrm>
          <a:prstGeom prst="line">
            <a:avLst/>
          </a:prstGeom>
          <a:ln w="12700">
            <a:solidFill>
              <a:srgbClr val="0F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/>
          <p:cNvSpPr/>
          <p:nvPr/>
        </p:nvSpPr>
        <p:spPr>
          <a:xfrm>
            <a:off x="10760659" y="717804"/>
            <a:ext cx="118872" cy="118872"/>
          </a:xfrm>
          <a:prstGeom prst="ellipse">
            <a:avLst/>
          </a:prstGeom>
          <a:solidFill>
            <a:srgbClr val="0F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144707" y="406908"/>
            <a:ext cx="118872" cy="118872"/>
          </a:xfrm>
          <a:prstGeom prst="ellipse">
            <a:avLst/>
          </a:prstGeom>
          <a:solidFill>
            <a:srgbClr val="0F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28755" y="717804"/>
            <a:ext cx="118872" cy="118872"/>
          </a:xfrm>
          <a:prstGeom prst="ellipse">
            <a:avLst/>
          </a:prstGeom>
          <a:solidFill>
            <a:srgbClr val="0F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ru-memory-fac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662" y="1188720"/>
            <a:ext cx="4120195" cy="2331720"/>
          </a:xfrm>
          <a:prstGeom prst="rect">
            <a:avLst/>
          </a:prstGeom>
          <a:ln w="12700">
            <a:solidFill>
              <a:srgbClr val="DFE9F1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548640" y="3630168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A6B7B"/>
                </a:solidFill>
                <a:latin typeface="Calibri"/>
              </a:rPr>
              <a:t>Раздел «Курируемая память» целиком: три факта владельца.</a:t>
            </a:r>
          </a:p>
        </p:txBody>
      </p:sp>
      <p:pic>
        <p:nvPicPr>
          <p:cNvPr id="11" name="Picture 10" descr="ru-memory-c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1206769"/>
            <a:ext cx="6263640" cy="1655541"/>
          </a:xfrm>
          <a:prstGeom prst="rect">
            <a:avLst/>
          </a:prstGeom>
          <a:ln w="12700">
            <a:solidFill>
              <a:srgbClr val="DFE9F1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5029200" y="2972038"/>
            <a:ext cx="6263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A6B7B"/>
                </a:solidFill>
                <a:latin typeface="Calibri"/>
              </a:rPr>
              <a:t>Одна запись крупно: источник, даты и прежнее значение правки.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4270248"/>
            <a:ext cx="164592" cy="164592"/>
          </a:xfrm>
          <a:prstGeom prst="ellipse">
            <a:avLst/>
          </a:prstGeom>
          <a:solidFill>
            <a:srgbClr val="0F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4224528"/>
            <a:ext cx="5120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1D2A38"/>
                </a:solidFill>
                <a:latin typeface="Calibri"/>
              </a:rPr>
              <a:t>Строка «источник»: это утверждение владельца, а не наблюдение инструмента.</a:t>
            </a:r>
          </a:p>
        </p:txBody>
      </p:sp>
      <p:sp>
        <p:nvSpPr>
          <p:cNvPr id="15" name="Oval 14"/>
          <p:cNvSpPr/>
          <p:nvPr/>
        </p:nvSpPr>
        <p:spPr>
          <a:xfrm>
            <a:off x="6153912" y="4270248"/>
            <a:ext cx="164592" cy="164592"/>
          </a:xfrm>
          <a:prstGeom prst="ellipse">
            <a:avLst/>
          </a:prstGeom>
          <a:solidFill>
            <a:srgbClr val="0F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64807" y="4224528"/>
            <a:ext cx="5120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1D2A38"/>
                </a:solidFill>
                <a:latin typeface="Calibri"/>
              </a:rPr>
              <a:t>Даты «записан» и «изменён»: когда запись появилась и менялась ли после.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5056632"/>
            <a:ext cx="164592" cy="164592"/>
          </a:xfrm>
          <a:prstGeom prst="ellipse">
            <a:avLst/>
          </a:prstGeom>
          <a:solidFill>
            <a:srgbClr val="0F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" y="5010912"/>
            <a:ext cx="5120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1D2A38"/>
                </a:solidFill>
                <a:latin typeface="Calibri"/>
              </a:rPr>
              <a:t>Блок «Прежнее значение»: то, что правка заменила, со своим источником.</a:t>
            </a:r>
          </a:p>
        </p:txBody>
      </p:sp>
      <p:sp>
        <p:nvSpPr>
          <p:cNvPr id="19" name="Oval 18"/>
          <p:cNvSpPr/>
          <p:nvPr/>
        </p:nvSpPr>
        <p:spPr>
          <a:xfrm>
            <a:off x="6153912" y="5056632"/>
            <a:ext cx="164592" cy="164592"/>
          </a:xfrm>
          <a:prstGeom prst="ellipse">
            <a:avLst/>
          </a:prstGeom>
          <a:solidFill>
            <a:srgbClr val="0F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64807" y="5010912"/>
            <a:ext cx="5120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1D2A38"/>
                </a:solidFill>
                <a:latin typeface="Calibri"/>
              </a:rPr>
              <a:t>Счётчик символов: у курируемой памяти объявлен предел 2000.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382512"/>
            <a:ext cx="101800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A6B7B"/>
                </a:solidFill>
                <a:latin typeface="Calibri"/>
              </a:rPr>
              <a:t>docs/forumit-2026/slides/img/ · tests/live_slide_shots.py (отдельный корень данных и отдельный граф)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11535" y="63825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5A6B7B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63137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0E2438"/>
                </a:solidFill>
                <a:latin typeface="Cambria"/>
              </a:rPr>
              <a:t>Автономность: границы записаны в коде</a:t>
            </a:r>
          </a:p>
        </p:txBody>
      </p:sp>
      <p:cxnSp>
        <p:nvCxnSpPr>
          <p:cNvPr id="3" name="Connector 2"/>
          <p:cNvCxnSpPr/>
          <p:nvPr/>
        </p:nvCxnSpPr>
        <p:spPr>
          <a:xfrm flipV="1">
            <a:off x="10820095" y="466344"/>
            <a:ext cx="384048" cy="310896"/>
          </a:xfrm>
          <a:prstGeom prst="line">
            <a:avLst/>
          </a:prstGeom>
          <a:ln w="12700">
            <a:solidFill>
              <a:srgbClr val="0F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820095" y="777240"/>
            <a:ext cx="768096" cy="0"/>
          </a:xfrm>
          <a:prstGeom prst="line">
            <a:avLst/>
          </a:prstGeom>
          <a:ln w="12700">
            <a:solidFill>
              <a:srgbClr val="0F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1204143" y="466344"/>
            <a:ext cx="384048" cy="310896"/>
          </a:xfrm>
          <a:prstGeom prst="line">
            <a:avLst/>
          </a:prstGeom>
          <a:ln w="12700">
            <a:solidFill>
              <a:srgbClr val="0F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/>
          <p:cNvSpPr/>
          <p:nvPr/>
        </p:nvSpPr>
        <p:spPr>
          <a:xfrm>
            <a:off x="10760659" y="717804"/>
            <a:ext cx="118872" cy="118872"/>
          </a:xfrm>
          <a:prstGeom prst="ellipse">
            <a:avLst/>
          </a:prstGeom>
          <a:solidFill>
            <a:srgbClr val="0F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144707" y="406908"/>
            <a:ext cx="118872" cy="118872"/>
          </a:xfrm>
          <a:prstGeom prst="ellipse">
            <a:avLst/>
          </a:prstGeom>
          <a:solidFill>
            <a:srgbClr val="0F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28755" y="717804"/>
            <a:ext cx="118872" cy="118872"/>
          </a:xfrm>
          <a:prstGeom prst="ellipse">
            <a:avLst/>
          </a:prstGeom>
          <a:solidFill>
            <a:srgbClr val="0F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48640" y="1399032"/>
            <a:ext cx="292608" cy="292608"/>
          </a:xfrm>
          <a:prstGeom prst="ellipse">
            <a:avLst/>
          </a:prstGeom>
          <a:solidFill>
            <a:srgbClr val="DFE9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2063" y="1472184"/>
            <a:ext cx="36576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0F7C86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1325880"/>
            <a:ext cx="4937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0E2438"/>
                </a:solidFill>
                <a:latin typeface="Calibri"/>
              </a:rPr>
              <a:t>Пакеты не вливаются сами</a:t>
            </a:r>
          </a:p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5A6B7B"/>
                </a:solidFill>
                <a:latin typeface="Calibri"/>
              </a:rPr>
              <a:t>Изменение проходит шлюз; применение и откат — отдельные записанные действия.</a:t>
            </a:r>
          </a:p>
        </p:txBody>
      </p:sp>
      <p:sp>
        <p:nvSpPr>
          <p:cNvPr id="12" name="Oval 11"/>
          <p:cNvSpPr/>
          <p:nvPr/>
        </p:nvSpPr>
        <p:spPr>
          <a:xfrm>
            <a:off x="6153912" y="1399032"/>
            <a:ext cx="292608" cy="292608"/>
          </a:xfrm>
          <a:prstGeom prst="ellipse">
            <a:avLst/>
          </a:prstGeom>
          <a:solidFill>
            <a:srgbClr val="DFE9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17336" y="1472184"/>
            <a:ext cx="36576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0F7C86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20840" y="1325880"/>
            <a:ext cx="4937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0E2438"/>
                </a:solidFill>
                <a:latin typeface="Calibri"/>
              </a:rPr>
              <a:t>Одобрение привязано к точным аргументам</a:t>
            </a:r>
          </a:p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5A6B7B"/>
                </a:solidFill>
                <a:latin typeface="Calibri"/>
              </a:rPr>
              <a:t>Человек разрешает не намерение, а конкретный вызов.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2532887"/>
            <a:ext cx="292608" cy="292608"/>
          </a:xfrm>
          <a:prstGeom prst="ellipse">
            <a:avLst/>
          </a:prstGeom>
          <a:solidFill>
            <a:srgbClr val="DFE9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3" y="2606040"/>
            <a:ext cx="36576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0F7C86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2459736"/>
            <a:ext cx="4937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0E2438"/>
                </a:solidFill>
                <a:latin typeface="Calibri"/>
              </a:rPr>
              <a:t>Правила и записи меняет человек</a:t>
            </a:r>
          </a:p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5A6B7B"/>
                </a:solidFill>
                <a:latin typeface="Calibri"/>
              </a:rPr>
              <a:t>Агент не трогает свои данные — правила и записи меняет человек.</a:t>
            </a:r>
          </a:p>
        </p:txBody>
      </p:sp>
      <p:sp>
        <p:nvSpPr>
          <p:cNvPr id="18" name="Oval 17"/>
          <p:cNvSpPr/>
          <p:nvPr/>
        </p:nvSpPr>
        <p:spPr>
          <a:xfrm>
            <a:off x="6153912" y="2532887"/>
            <a:ext cx="292608" cy="292608"/>
          </a:xfrm>
          <a:prstGeom prst="ellipse">
            <a:avLst/>
          </a:prstGeom>
          <a:solidFill>
            <a:srgbClr val="DFE9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17336" y="2606040"/>
            <a:ext cx="36576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0F7C86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20840" y="2459736"/>
            <a:ext cx="4937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0E2438"/>
                </a:solidFill>
                <a:latin typeface="Calibri"/>
              </a:rPr>
              <a:t>Инструменты MCP объявляют схему</a:t>
            </a:r>
          </a:p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5A6B7B"/>
                </a:solidFill>
                <a:latin typeface="Calibri"/>
              </a:rPr>
              <a:t>Нет обязательного поля — отказ с причиной, а не догадка.</a:t>
            </a:r>
          </a:p>
        </p:txBody>
      </p:sp>
      <p:sp>
        <p:nvSpPr>
          <p:cNvPr id="21" name="Oval 20"/>
          <p:cNvSpPr/>
          <p:nvPr/>
        </p:nvSpPr>
        <p:spPr>
          <a:xfrm>
            <a:off x="548640" y="3666744"/>
            <a:ext cx="292608" cy="292608"/>
          </a:xfrm>
          <a:prstGeom prst="ellipse">
            <a:avLst/>
          </a:prstGeom>
          <a:solidFill>
            <a:srgbClr val="DFE9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2063" y="3739896"/>
            <a:ext cx="36576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0F7C86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" y="3593591"/>
            <a:ext cx="4937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0E2438"/>
                </a:solidFill>
                <a:latin typeface="Calibri"/>
              </a:rPr>
              <a:t>Остановить может человек и его правила</a:t>
            </a:r>
          </a:p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5A6B7B"/>
                </a:solidFill>
                <a:latin typeface="Calibri"/>
              </a:rPr>
              <a:t>Право на эффект объявлено ролью и настройкой разрешений.</a:t>
            </a:r>
          </a:p>
        </p:txBody>
      </p:sp>
      <p:sp>
        <p:nvSpPr>
          <p:cNvPr id="24" name="Oval 23"/>
          <p:cNvSpPr/>
          <p:nvPr/>
        </p:nvSpPr>
        <p:spPr>
          <a:xfrm>
            <a:off x="6153912" y="3666744"/>
            <a:ext cx="292608" cy="292608"/>
          </a:xfrm>
          <a:prstGeom prst="ellipse">
            <a:avLst/>
          </a:prstGeom>
          <a:solidFill>
            <a:srgbClr val="DFE9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17336" y="3739896"/>
            <a:ext cx="36576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0F7C86"/>
                </a:solidFill>
                <a:latin typeface="Calibri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20840" y="3593591"/>
            <a:ext cx="4937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0E2438"/>
                </a:solidFill>
                <a:latin typeface="Calibri"/>
              </a:rPr>
              <a:t>Изоляция контейнерная, не машинная</a:t>
            </a:r>
          </a:p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5A6B7B"/>
                </a:solidFill>
                <a:latin typeface="Calibri"/>
              </a:rPr>
              <a:t>Docker и WSL2; изоляция уровня отдельной машины — цель, и она названа целью.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892040"/>
            <a:ext cx="11094415" cy="960120"/>
          </a:xfrm>
          <a:prstGeom prst="roundRect">
            <a:avLst>
              <a:gd name="adj" fmla="val 6000"/>
            </a:avLst>
          </a:prstGeom>
          <a:solidFill>
            <a:srgbClr val="DFE9F1"/>
          </a:solidFill>
          <a:ln>
            <a:noFill/>
          </a:ln>
          <a:effectLst/>
        </p:spPr>
        <p:txBody>
          <a:bodyPr rtlCol="0" anchor="ctr" wrap="square" lIns="182880" rIns="182880" tIns="128016" bIns="128016"/>
          <a:lstStyle/>
          <a:p>
            <a:pPr algn="l"/>
            <a:r>
              <a:rPr sz="1450" b="1" i="0">
                <a:solidFill>
                  <a:srgbClr val="0E2438"/>
                </a:solidFill>
                <a:latin typeface="Calibri"/>
              </a:rPr>
              <a:t>Система работает сама в пределах настроенных правил и останавливается там, где нужно решение человека.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382512"/>
            <a:ext cx="101800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A6B7B"/>
                </a:solidFill>
                <a:latin typeface="Calibri"/>
              </a:rPr>
              <a:t>python/oneiro/tools.py (arguments_digest) · python/oneiro/records.py (Approval) · python/oneiro/web.py (/api/settings)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11535" y="63825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5A6B7B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63137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0E2438"/>
                </a:solidFill>
                <a:latin typeface="Cambria"/>
              </a:rPr>
              <a:t>Журнал организации</a:t>
            </a:r>
          </a:p>
        </p:txBody>
      </p:sp>
      <p:cxnSp>
        <p:nvCxnSpPr>
          <p:cNvPr id="3" name="Connector 2"/>
          <p:cNvCxnSpPr/>
          <p:nvPr/>
        </p:nvCxnSpPr>
        <p:spPr>
          <a:xfrm flipV="1">
            <a:off x="10820095" y="466344"/>
            <a:ext cx="384048" cy="310896"/>
          </a:xfrm>
          <a:prstGeom prst="line">
            <a:avLst/>
          </a:prstGeom>
          <a:ln w="12700">
            <a:solidFill>
              <a:srgbClr val="0F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820095" y="777240"/>
            <a:ext cx="768096" cy="0"/>
          </a:xfrm>
          <a:prstGeom prst="line">
            <a:avLst/>
          </a:prstGeom>
          <a:ln w="12700">
            <a:solidFill>
              <a:srgbClr val="0F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1204143" y="466344"/>
            <a:ext cx="384048" cy="310896"/>
          </a:xfrm>
          <a:prstGeom prst="line">
            <a:avLst/>
          </a:prstGeom>
          <a:ln w="12700">
            <a:solidFill>
              <a:srgbClr val="0F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/>
          <p:cNvSpPr/>
          <p:nvPr/>
        </p:nvSpPr>
        <p:spPr>
          <a:xfrm>
            <a:off x="10760659" y="717804"/>
            <a:ext cx="118872" cy="118872"/>
          </a:xfrm>
          <a:prstGeom prst="ellipse">
            <a:avLst/>
          </a:prstGeom>
          <a:solidFill>
            <a:srgbClr val="0F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144707" y="406908"/>
            <a:ext cx="118872" cy="118872"/>
          </a:xfrm>
          <a:prstGeom prst="ellipse">
            <a:avLst/>
          </a:prstGeom>
          <a:solidFill>
            <a:srgbClr val="0F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28755" y="717804"/>
            <a:ext cx="118872" cy="118872"/>
          </a:xfrm>
          <a:prstGeom prst="ellipse">
            <a:avLst/>
          </a:prstGeom>
          <a:solidFill>
            <a:srgbClr val="0F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ru-tasks-jour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436" y="1142999"/>
            <a:ext cx="10038822" cy="3291840"/>
          </a:xfrm>
          <a:prstGeom prst="rect">
            <a:avLst/>
          </a:prstGeom>
          <a:ln w="12700">
            <a:solidFill>
              <a:srgbClr val="DFE9F1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548640" y="4544568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A6B7B"/>
                </a:solidFill>
                <a:latin typeface="Calibri"/>
              </a:rPr>
              <a:t>Экран задач панели: две задачи с ролями и состояниями и постоянное расписание с cron. Кадр снят tests/live_slide_shots.py.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992624"/>
            <a:ext cx="164592" cy="164592"/>
          </a:xfrm>
          <a:prstGeom prst="ellipse">
            <a:avLst/>
          </a:prstGeom>
          <a:solidFill>
            <a:srgbClr val="0F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4956048"/>
            <a:ext cx="5212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1D2A38"/>
                </a:solidFill>
                <a:latin typeface="Calibri"/>
              </a:rPr>
              <a:t>Роль записана в задаче, поэтому видно, кто её выполнял.</a:t>
            </a:r>
          </a:p>
        </p:txBody>
      </p:sp>
      <p:sp>
        <p:nvSpPr>
          <p:cNvPr id="13" name="Oval 12"/>
          <p:cNvSpPr/>
          <p:nvPr/>
        </p:nvSpPr>
        <p:spPr>
          <a:xfrm>
            <a:off x="6153912" y="4992624"/>
            <a:ext cx="164592" cy="164592"/>
          </a:xfrm>
          <a:prstGeom prst="ellipse">
            <a:avLst/>
          </a:prstGeom>
          <a:solidFill>
            <a:srgbClr val="0F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4956048"/>
            <a:ext cx="5212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1D2A38"/>
                </a:solidFill>
                <a:latin typeface="Calibri"/>
              </a:rPr>
              <a:t>Расписание — запись в памяти, а не строка настроек: оно переживает перезапуск.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5650992"/>
            <a:ext cx="164592" cy="164592"/>
          </a:xfrm>
          <a:prstGeom prst="ellipse">
            <a:avLst/>
          </a:prstGeom>
          <a:solidFill>
            <a:srgbClr val="0F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7" y="5614416"/>
            <a:ext cx="5212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1D2A38"/>
                </a:solidFill>
                <a:latin typeface="Calibri"/>
              </a:rPr>
              <a:t>Задача по расписанию идёт в ту же очередь и проходит те же ограничения.</a:t>
            </a:r>
          </a:p>
        </p:txBody>
      </p:sp>
      <p:sp>
        <p:nvSpPr>
          <p:cNvPr id="17" name="Oval 16"/>
          <p:cNvSpPr/>
          <p:nvPr/>
        </p:nvSpPr>
        <p:spPr>
          <a:xfrm>
            <a:off x="6153912" y="5650992"/>
            <a:ext cx="164592" cy="164592"/>
          </a:xfrm>
          <a:prstGeom prst="ellipse">
            <a:avLst/>
          </a:prstGeom>
          <a:solidFill>
            <a:srgbClr val="0F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5614416"/>
            <a:ext cx="5212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1D2A38"/>
                </a:solidFill>
                <a:latin typeface="Calibri"/>
              </a:rPr>
              <a:t>Интервалы и расписание задаёт человек — система не выбирает их сама.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382512"/>
            <a:ext cx="101800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A6B7B"/>
                </a:solidFill>
                <a:latin typeface="Calibri"/>
              </a:rPr>
              <a:t>docs/forumit-2026/slides/img/ru-tasks-journal.png · python/oneiro/tasks.py · python/oneiro/schedule.py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11535" y="63825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5A6B7B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63137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0E2438"/>
                </a:solidFill>
                <a:latin typeface="Cambria"/>
              </a:rPr>
              <a:t>Проактивность: расписание и тишина</a:t>
            </a:r>
          </a:p>
        </p:txBody>
      </p:sp>
      <p:cxnSp>
        <p:nvCxnSpPr>
          <p:cNvPr id="3" name="Connector 2"/>
          <p:cNvCxnSpPr/>
          <p:nvPr/>
        </p:nvCxnSpPr>
        <p:spPr>
          <a:xfrm flipV="1">
            <a:off x="10820095" y="466344"/>
            <a:ext cx="384048" cy="310896"/>
          </a:xfrm>
          <a:prstGeom prst="line">
            <a:avLst/>
          </a:prstGeom>
          <a:ln w="12700">
            <a:solidFill>
              <a:srgbClr val="0F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820095" y="777240"/>
            <a:ext cx="768096" cy="0"/>
          </a:xfrm>
          <a:prstGeom prst="line">
            <a:avLst/>
          </a:prstGeom>
          <a:ln w="12700">
            <a:solidFill>
              <a:srgbClr val="0F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1204143" y="466344"/>
            <a:ext cx="384048" cy="310896"/>
          </a:xfrm>
          <a:prstGeom prst="line">
            <a:avLst/>
          </a:prstGeom>
          <a:ln w="12700">
            <a:solidFill>
              <a:srgbClr val="0F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/>
          <p:cNvSpPr/>
          <p:nvPr/>
        </p:nvSpPr>
        <p:spPr>
          <a:xfrm>
            <a:off x="10760659" y="717804"/>
            <a:ext cx="118872" cy="118872"/>
          </a:xfrm>
          <a:prstGeom prst="ellipse">
            <a:avLst/>
          </a:prstGeom>
          <a:solidFill>
            <a:srgbClr val="0F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144707" y="406908"/>
            <a:ext cx="118872" cy="118872"/>
          </a:xfrm>
          <a:prstGeom prst="ellipse">
            <a:avLst/>
          </a:prstGeom>
          <a:solidFill>
            <a:srgbClr val="0F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28755" y="717804"/>
            <a:ext cx="118872" cy="118872"/>
          </a:xfrm>
          <a:prstGeom prst="ellipse">
            <a:avLst/>
          </a:prstGeom>
          <a:solidFill>
            <a:srgbClr val="0F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48640" y="1307592"/>
            <a:ext cx="164592" cy="164592"/>
          </a:xfrm>
          <a:prstGeom prst="ellipse">
            <a:avLst/>
          </a:prstGeom>
          <a:solidFill>
            <a:srgbClr val="0F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1261872"/>
            <a:ext cx="429768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1D2A38"/>
                </a:solidFill>
                <a:latin typeface="Calibri"/>
              </a:rPr>
              <a:t>Работа в фоне по расписанию: интервалы и время задаёт человек.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020824"/>
            <a:ext cx="164592" cy="164592"/>
          </a:xfrm>
          <a:prstGeom prst="ellipse">
            <a:avLst/>
          </a:prstGeom>
          <a:solidFill>
            <a:srgbClr val="0F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9536" y="1975104"/>
            <a:ext cx="429768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1D2A38"/>
                </a:solidFill>
                <a:latin typeface="Calibri"/>
              </a:rPr>
              <a:t>Тихие часы 22:00-09:00: работа идёт, уведомления удерживаются, а не приходят ночью по одному.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2734056"/>
            <a:ext cx="164592" cy="164592"/>
          </a:xfrm>
          <a:prstGeom prst="ellipse">
            <a:avLst/>
          </a:prstGeom>
          <a:solidFill>
            <a:srgbClr val="0F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2688336"/>
            <a:ext cx="429768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1D2A38"/>
                </a:solidFill>
                <a:latin typeface="Calibri"/>
              </a:rPr>
              <a:t>Утром — один разбор: что завершено, что ждёт решения, где был отказ.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447288"/>
            <a:ext cx="164592" cy="164592"/>
          </a:xfrm>
          <a:prstGeom prst="ellipse">
            <a:avLst/>
          </a:prstGeom>
          <a:solidFill>
            <a:srgbClr val="0F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9536" y="3401568"/>
            <a:ext cx="429768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1D2A38"/>
                </a:solidFill>
                <a:latin typeface="Calibri"/>
              </a:rPr>
              <a:t>Если человек не ответил, напоминание приходит один раз — не бесконечно.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160520"/>
            <a:ext cx="164592" cy="164592"/>
          </a:xfrm>
          <a:prstGeom prst="ellipse">
            <a:avLst/>
          </a:prstGeom>
          <a:solidFill>
            <a:srgbClr val="0F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" y="4114800"/>
            <a:ext cx="429768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1D2A38"/>
                </a:solidFill>
                <a:latin typeface="Calibri"/>
              </a:rPr>
              <a:t>Разбор и напоминание решает тот же тик, что и расписание: второго таймера нет.</a:t>
            </a:r>
          </a:p>
        </p:txBody>
      </p:sp>
      <p:sp>
        <p:nvSpPr>
          <p:cNvPr id="19" name="Oval 18"/>
          <p:cNvSpPr/>
          <p:nvPr/>
        </p:nvSpPr>
        <p:spPr>
          <a:xfrm>
            <a:off x="548640" y="4873752"/>
            <a:ext cx="164592" cy="164592"/>
          </a:xfrm>
          <a:prstGeom prst="ellipse">
            <a:avLst/>
          </a:prstGeom>
          <a:solidFill>
            <a:srgbClr val="0F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9536" y="4828032"/>
            <a:ext cx="429768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1D2A38"/>
                </a:solidFill>
                <a:latin typeface="Calibri"/>
              </a:rPr>
              <a:t>Система не молчит до конца: она либо делает, либо говорит, что не смогла.</a:t>
            </a:r>
          </a:p>
        </p:txBody>
      </p:sp>
      <p:pic>
        <p:nvPicPr>
          <p:cNvPr id="21" name="Picture 20" descr="ru-initiative-ro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1227" y="1234440"/>
            <a:ext cx="6261376" cy="3840480"/>
          </a:xfrm>
          <a:prstGeom prst="rect">
            <a:avLst/>
          </a:prstGeom>
          <a:ln w="12700">
            <a:solidFill>
              <a:srgbClr val="DFE9F1"/>
            </a:solidFill>
          </a:ln>
        </p:spPr>
      </p:pic>
      <p:sp>
        <p:nvSpPr>
          <p:cNvPr id="22" name="TextBox 21"/>
          <p:cNvSpPr txBox="1"/>
          <p:nvPr/>
        </p:nvSpPr>
        <p:spPr>
          <a:xfrm>
            <a:off x="5303520" y="5184648"/>
            <a:ext cx="633679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A6B7B"/>
                </a:solidFill>
                <a:latin typeface="Calibri"/>
              </a:rPr>
              <a:t>Фрагмент раздела «Инициатива» крупно: тихие часы со значением и объяснением и утренняя сводка. Раздел целиком — img/ru-initiative.png.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382512"/>
            <a:ext cx="101800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A6B7B"/>
                </a:solidFill>
                <a:latin typeface="Calibri"/>
              </a:rPr>
              <a:t>python/oneiro/proactive.py · python/oneiro/schedule.py (tick) · tests/live_proactive_check.py — 23 шага, код 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11535" y="63825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5A6B7B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63137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0E2438"/>
                </a:solidFill>
                <a:latin typeface="Cambria"/>
              </a:rPr>
              <a:t>Самоулучшение: механизм отказа</a:t>
            </a:r>
          </a:p>
        </p:txBody>
      </p:sp>
      <p:cxnSp>
        <p:nvCxnSpPr>
          <p:cNvPr id="3" name="Connector 2"/>
          <p:cNvCxnSpPr/>
          <p:nvPr/>
        </p:nvCxnSpPr>
        <p:spPr>
          <a:xfrm flipV="1">
            <a:off x="10820095" y="466344"/>
            <a:ext cx="384048" cy="310896"/>
          </a:xfrm>
          <a:prstGeom prst="line">
            <a:avLst/>
          </a:prstGeom>
          <a:ln w="12700">
            <a:solidFill>
              <a:srgbClr val="0F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820095" y="777240"/>
            <a:ext cx="768096" cy="0"/>
          </a:xfrm>
          <a:prstGeom prst="line">
            <a:avLst/>
          </a:prstGeom>
          <a:ln w="12700">
            <a:solidFill>
              <a:srgbClr val="0F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1204143" y="466344"/>
            <a:ext cx="384048" cy="310896"/>
          </a:xfrm>
          <a:prstGeom prst="line">
            <a:avLst/>
          </a:prstGeom>
          <a:ln w="12700">
            <a:solidFill>
              <a:srgbClr val="0F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/>
          <p:cNvSpPr/>
          <p:nvPr/>
        </p:nvSpPr>
        <p:spPr>
          <a:xfrm>
            <a:off x="10760659" y="717804"/>
            <a:ext cx="118872" cy="118872"/>
          </a:xfrm>
          <a:prstGeom prst="ellipse">
            <a:avLst/>
          </a:prstGeom>
          <a:solidFill>
            <a:srgbClr val="0F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144707" y="406908"/>
            <a:ext cx="118872" cy="118872"/>
          </a:xfrm>
          <a:prstGeom prst="ellipse">
            <a:avLst/>
          </a:prstGeom>
          <a:solidFill>
            <a:srgbClr val="0F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28755" y="717804"/>
            <a:ext cx="118872" cy="118872"/>
          </a:xfrm>
          <a:prstGeom prst="ellipse">
            <a:avLst/>
          </a:prstGeom>
          <a:solidFill>
            <a:srgbClr val="0F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1371600"/>
            <a:ext cx="3611880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FE9F1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22959" y="1618488"/>
            <a:ext cx="457200" cy="457200"/>
          </a:xfrm>
          <a:prstGeom prst="ellipse">
            <a:avLst/>
          </a:prstGeom>
          <a:solidFill>
            <a:srgbClr val="DFE9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700784"/>
            <a:ext cx="2743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0F7C86"/>
                </a:solidFill>
                <a:latin typeface="Cambria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7" y="2240280"/>
            <a:ext cx="302666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 i="0">
                <a:solidFill>
                  <a:srgbClr val="0E2438"/>
                </a:solidFill>
                <a:latin typeface="Cambria"/>
              </a:rPr>
              <a:t>Повтор только по записи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7" y="2880360"/>
            <a:ext cx="3026664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1D2A38"/>
                </a:solidFill>
                <a:latin typeface="Calibri"/>
              </a:rPr>
              <a:t>Эпизод повторяется там, где решение уже наблюдалось. Где решения нет, эпизод обрывается, а покрытие показывается числом.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70831" y="1371600"/>
            <a:ext cx="3611880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FE9F1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645151" y="1618488"/>
            <a:ext cx="457200" cy="457200"/>
          </a:xfrm>
          <a:prstGeom prst="ellipse">
            <a:avLst/>
          </a:prstGeom>
          <a:solidFill>
            <a:srgbClr val="DFE9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36592" y="1700784"/>
            <a:ext cx="2743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0F7C86"/>
                </a:solidFill>
                <a:latin typeface="Cambria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0" y="2240280"/>
            <a:ext cx="302666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 i="0">
                <a:solidFill>
                  <a:srgbClr val="0E2438"/>
                </a:solidFill>
                <a:latin typeface="Cambria"/>
              </a:rPr>
              <a:t>Три повтора на задачу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880360"/>
            <a:ext cx="3026664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1D2A38"/>
                </a:solidFill>
                <a:latin typeface="Calibri"/>
              </a:rPr>
              <a:t>Кандидатов сравнивают на настоящих запусках: одиночный запуск легко попадает на хорошую сторону случайности.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93023" y="1371600"/>
            <a:ext cx="3611880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FE9F1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467344" y="1618488"/>
            <a:ext cx="457200" cy="457200"/>
          </a:xfrm>
          <a:prstGeom prst="ellipse">
            <a:avLst/>
          </a:prstGeom>
          <a:solidFill>
            <a:srgbClr val="DFE9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58784" y="1700784"/>
            <a:ext cx="2743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0F7C86"/>
                </a:solidFill>
                <a:latin typeface="Cambria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85632" y="2240280"/>
            <a:ext cx="302666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 i="0">
                <a:solidFill>
                  <a:srgbClr val="0E2438"/>
                </a:solidFill>
                <a:latin typeface="Cambria"/>
              </a:rPr>
              <a:t>Шлюз, применение, откат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85632" y="2880360"/>
            <a:ext cx="3026664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1D2A38"/>
                </a:solidFill>
                <a:latin typeface="Calibri"/>
              </a:rPr>
              <a:t>Новое поведение не применяется само. Применение и откат — отдельные записанные действия, утверждает изменение человек.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800600"/>
            <a:ext cx="11094415" cy="1051560"/>
          </a:xfrm>
          <a:prstGeom prst="roundRect">
            <a:avLst>
              <a:gd name="adj" fmla="val 6000"/>
            </a:avLst>
          </a:prstGeom>
          <a:solidFill>
            <a:srgbClr val="DFE9F1"/>
          </a:solidFill>
          <a:ln>
            <a:noFill/>
          </a:ln>
          <a:effectLst/>
        </p:spPr>
        <p:txBody>
          <a:bodyPr rtlCol="0" anchor="t" wrap="square" lIns="182880" rIns="182880" tIns="128016" bIns="128016"/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E2438"/>
                </a:solidFill>
                <a:latin typeface="Calibri"/>
              </a:rPr>
              <a:t>Масштаб механизма измерен: семь контрольных политик, написанных вручную, оценили по записям и измерили на запусках.</a:t>
            </a:r>
          </a:p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A6B7B"/>
                </a:solidFill>
                <a:latin typeface="Calibri"/>
              </a:rPr>
              <a:t>Оценка судьи разошлась с замером от −43 % до +26 % — поэтому кандидатов сравнивают запусками, а не оценкой.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382512"/>
            <a:ext cx="101800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A6B7B"/>
                </a:solidFill>
                <a:latin typeface="Calibri"/>
              </a:rPr>
              <a:t>docs/harness.md (Judge calibration) · harness/policy.py (VARIANTS) · python/oneiro/dream/gate.py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11535" y="63825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5A6B7B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63137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0E2438"/>
                </a:solidFill>
                <a:latin typeface="Cambria"/>
              </a:rPr>
              <a:t>Отклонённый кандидат: одно число</a:t>
            </a:r>
          </a:p>
        </p:txBody>
      </p:sp>
      <p:cxnSp>
        <p:nvCxnSpPr>
          <p:cNvPr id="3" name="Connector 2"/>
          <p:cNvCxnSpPr/>
          <p:nvPr/>
        </p:nvCxnSpPr>
        <p:spPr>
          <a:xfrm flipV="1">
            <a:off x="10820095" y="466344"/>
            <a:ext cx="384048" cy="310896"/>
          </a:xfrm>
          <a:prstGeom prst="line">
            <a:avLst/>
          </a:prstGeom>
          <a:ln w="12700">
            <a:solidFill>
              <a:srgbClr val="0F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820095" y="777240"/>
            <a:ext cx="768096" cy="0"/>
          </a:xfrm>
          <a:prstGeom prst="line">
            <a:avLst/>
          </a:prstGeom>
          <a:ln w="12700">
            <a:solidFill>
              <a:srgbClr val="0F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1204143" y="466344"/>
            <a:ext cx="384048" cy="310896"/>
          </a:xfrm>
          <a:prstGeom prst="line">
            <a:avLst/>
          </a:prstGeom>
          <a:ln w="12700">
            <a:solidFill>
              <a:srgbClr val="0F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/>
          <p:cNvSpPr/>
          <p:nvPr/>
        </p:nvSpPr>
        <p:spPr>
          <a:xfrm>
            <a:off x="10760659" y="717804"/>
            <a:ext cx="118872" cy="118872"/>
          </a:xfrm>
          <a:prstGeom prst="ellipse">
            <a:avLst/>
          </a:prstGeom>
          <a:solidFill>
            <a:srgbClr val="0F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144707" y="406908"/>
            <a:ext cx="118872" cy="118872"/>
          </a:xfrm>
          <a:prstGeom prst="ellipse">
            <a:avLst/>
          </a:prstGeom>
          <a:solidFill>
            <a:srgbClr val="0F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28755" y="717804"/>
            <a:ext cx="118872" cy="118872"/>
          </a:xfrm>
          <a:prstGeom prst="ellipse">
            <a:avLst/>
          </a:prstGeom>
          <a:solidFill>
            <a:srgbClr val="0F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48640" y="1371600"/>
          <a:ext cx="5943600" cy="397763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0" y="1371600"/>
            <a:ext cx="4782312" cy="3977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0E2438"/>
                </a:solidFill>
                <a:latin typeface="Cambria"/>
              </a:rPr>
              <a:t>4589,8 против 4583,0</a:t>
            </a:r>
          </a:p>
          <a:p>
            <a:pPr algn="l">
              <a:spcAft>
                <a:spcPts val="1200"/>
              </a:spcAft>
            </a:pPr>
            <a:r>
              <a:rPr sz="1350" b="0" i="0">
                <a:solidFill>
                  <a:srgbClr val="C2405A"/>
                </a:solidFill>
                <a:latin typeface="Calibri"/>
              </a:rPr>
              <a:t>на 0,15 % дороже контроля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250" b="0" i="0">
                <a:solidFill>
                  <a:srgbClr val="1D2A38"/>
                </a:solidFill>
                <a:latin typeface="Calibri"/>
              </a:rPr>
              <a:t>Разница не вышла за шум: beyond_noise — false.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250" b="0" i="0">
                <a:solidFill>
                  <a:srgbClr val="1D2A38"/>
                </a:solidFill>
                <a:latin typeface="Calibri"/>
              </a:rPr>
              <a:t>Кандидат отклонён. Это и есть полезный результат: система отказалась от изменения, которое выглядело разумным, но не подтвердилось.</a:t>
            </a:r>
          </a:p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5A6B7B"/>
                </a:solidFill>
                <a:latin typeface="Calibri"/>
              </a:rPr>
              <a:t>Ускорения и экономии не обещаю: в замере их нет.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382512"/>
            <a:ext cx="101800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A6B7B"/>
                </a:solidFill>
                <a:latin typeface="Calibri"/>
              </a:rPr>
              <a:t>docs/O8-2026-10-12.md, строки 119-130 и 241 · payload _tmp/o8-live6-payload.json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11535" y="63825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5A6B7B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63137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0E2438"/>
                </a:solidFill>
                <a:latin typeface="Cambria"/>
              </a:rPr>
              <a:t>Что дальше</a:t>
            </a:r>
          </a:p>
        </p:txBody>
      </p:sp>
      <p:cxnSp>
        <p:nvCxnSpPr>
          <p:cNvPr id="3" name="Connector 2"/>
          <p:cNvCxnSpPr/>
          <p:nvPr/>
        </p:nvCxnSpPr>
        <p:spPr>
          <a:xfrm flipV="1">
            <a:off x="10820095" y="466344"/>
            <a:ext cx="384048" cy="310896"/>
          </a:xfrm>
          <a:prstGeom prst="line">
            <a:avLst/>
          </a:prstGeom>
          <a:ln w="12700">
            <a:solidFill>
              <a:srgbClr val="0F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820095" y="777240"/>
            <a:ext cx="768096" cy="0"/>
          </a:xfrm>
          <a:prstGeom prst="line">
            <a:avLst/>
          </a:prstGeom>
          <a:ln w="12700">
            <a:solidFill>
              <a:srgbClr val="0F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1204143" y="466344"/>
            <a:ext cx="384048" cy="310896"/>
          </a:xfrm>
          <a:prstGeom prst="line">
            <a:avLst/>
          </a:prstGeom>
          <a:ln w="12700">
            <a:solidFill>
              <a:srgbClr val="0F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/>
          <p:cNvSpPr/>
          <p:nvPr/>
        </p:nvSpPr>
        <p:spPr>
          <a:xfrm>
            <a:off x="10760659" y="717804"/>
            <a:ext cx="118872" cy="118872"/>
          </a:xfrm>
          <a:prstGeom prst="ellipse">
            <a:avLst/>
          </a:prstGeom>
          <a:solidFill>
            <a:srgbClr val="0F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144707" y="406908"/>
            <a:ext cx="118872" cy="118872"/>
          </a:xfrm>
          <a:prstGeom prst="ellipse">
            <a:avLst/>
          </a:prstGeom>
          <a:solidFill>
            <a:srgbClr val="0F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28755" y="717804"/>
            <a:ext cx="118872" cy="118872"/>
          </a:xfrm>
          <a:prstGeom prst="ellipse">
            <a:avLst/>
          </a:prstGeom>
          <a:solidFill>
            <a:srgbClr val="0F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1371600"/>
            <a:ext cx="3611880" cy="2148840"/>
          </a:xfrm>
          <a:prstGeom prst="roundRect">
            <a:avLst>
              <a:gd name="adj" fmla="val 6000"/>
            </a:avLst>
          </a:prstGeom>
          <a:solidFill>
            <a:srgbClr val="EDF3F8"/>
          </a:solidFill>
          <a:ln>
            <a:noFill/>
          </a:ln>
          <a:effectLst/>
        </p:spPr>
        <p:txBody>
          <a:bodyPr rtlCol="0" anchor="t" wrap="square" lIns="182880" rIns="182880" tIns="128016" bIns="128016"/>
          <a:lstStyle/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500" b="1" i="0">
                <a:solidFill>
                  <a:srgbClr val="0E2438"/>
                </a:solidFill>
                <a:latin typeface="Cambria"/>
              </a:rPr>
              <a:t>Поиск по смыслу по памяти</a:t>
            </a:r>
          </a:p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1D2A38"/>
                </a:solidFill>
                <a:latin typeface="Calibri"/>
              </a:rPr>
              <a:t>Сегодня поиск токенный: по словам и связям. Семантический поиск — следующая работа.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0831" y="1371600"/>
            <a:ext cx="3611880" cy="2148840"/>
          </a:xfrm>
          <a:prstGeom prst="roundRect">
            <a:avLst>
              <a:gd name="adj" fmla="val 6000"/>
            </a:avLst>
          </a:prstGeom>
          <a:solidFill>
            <a:srgbClr val="EDF3F8"/>
          </a:solidFill>
          <a:ln>
            <a:noFill/>
          </a:ln>
          <a:effectLst/>
        </p:spPr>
        <p:txBody>
          <a:bodyPr rtlCol="0" anchor="t" wrap="square" lIns="182880" rIns="182880" tIns="128016" bIns="128016"/>
          <a:lstStyle/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500" b="1" i="0">
                <a:solidFill>
                  <a:srgbClr val="0E2438"/>
                </a:solidFill>
                <a:latin typeface="Cambria"/>
              </a:rPr>
              <a:t>Изоляция уровня отдельной машины</a:t>
            </a:r>
          </a:p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1D2A38"/>
                </a:solidFill>
                <a:latin typeface="Calibri"/>
              </a:rPr>
              <a:t>Сейчас изоляция контейнерная. Границу обеспечивает Docker и WSL2.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93023" y="1371600"/>
            <a:ext cx="3611880" cy="2148840"/>
          </a:xfrm>
          <a:prstGeom prst="roundRect">
            <a:avLst>
              <a:gd name="adj" fmla="val 6000"/>
            </a:avLst>
          </a:prstGeom>
          <a:solidFill>
            <a:srgbClr val="EDF3F8"/>
          </a:solidFill>
          <a:ln>
            <a:noFill/>
          </a:ln>
          <a:effectLst/>
        </p:spPr>
        <p:txBody>
          <a:bodyPr rtlCol="0" anchor="t" wrap="square" lIns="182880" rIns="182880" tIns="128016" bIns="128016"/>
          <a:lstStyle/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500" b="1" i="0">
                <a:solidFill>
                  <a:srgbClr val="0E2438"/>
                </a:solidFill>
                <a:latin typeface="Cambria"/>
              </a:rPr>
              <a:t>Больше повторов в замерах</a:t>
            </a:r>
          </a:p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1D2A38"/>
                </a:solidFill>
                <a:latin typeface="Calibri"/>
              </a:rPr>
              <a:t>Чтобы экономия подтверждалась на нескольких наборах задач, а не на одном.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794760"/>
            <a:ext cx="11094415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FE9F1"/>
            </a:solidFill>
          </a:ln>
          <a:effectLst/>
        </p:spPr>
        <p:txBody>
          <a:bodyPr rtlCol="0" anchor="t" wrap="square" lIns="182880" rIns="182880" tIns="128016" bIns="128016"/>
          <a:lstStyle/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0E2438"/>
                </a:solidFill>
                <a:latin typeface="Calibri"/>
              </a:rPr>
              <a:t>Отказ уже работает: следующий шаг — масштаб измерения.</a:t>
            </a:r>
          </a:p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1D2A38"/>
                </a:solidFill>
                <a:latin typeface="Calibri"/>
              </a:rPr>
              <a:t>Для меня главный вывод — не набор возможностей, а понятные границы уверенности: система различает намерение, разрешение, исполнение и подтверждение. По этому различию человек доверяет результату ровно настолько, насколько он проверен.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382512"/>
            <a:ext cx="101800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A6B7B"/>
                </a:solidFill>
                <a:latin typeface="Calibri"/>
              </a:rPr>
              <a:t>docs/TALK-RU-2026-10-13.md, раздел 9 · docs/ACCEPTANCE-REPORT.md (границы)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11535" y="63825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5A6B7B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43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963137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FFFFF"/>
                </a:solidFill>
                <a:latin typeface="Cambria"/>
              </a:rPr>
              <a:t>Ссылка на исходный код</a:t>
            </a:r>
          </a:p>
        </p:txBody>
      </p:sp>
      <p:cxnSp>
        <p:nvCxnSpPr>
          <p:cNvPr id="4" name="Connector 3"/>
          <p:cNvCxnSpPr/>
          <p:nvPr/>
        </p:nvCxnSpPr>
        <p:spPr>
          <a:xfrm flipV="1">
            <a:off x="10820095" y="466344"/>
            <a:ext cx="384048" cy="310896"/>
          </a:xfrm>
          <a:prstGeom prst="line">
            <a:avLst/>
          </a:prstGeom>
          <a:ln w="12700">
            <a:solidFill>
              <a:srgbClr val="5FD0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820095" y="777240"/>
            <a:ext cx="768096" cy="0"/>
          </a:xfrm>
          <a:prstGeom prst="line">
            <a:avLst/>
          </a:prstGeom>
          <a:ln w="12700">
            <a:solidFill>
              <a:srgbClr val="5FD0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1204143" y="466344"/>
            <a:ext cx="384048" cy="310896"/>
          </a:xfrm>
          <a:prstGeom prst="line">
            <a:avLst/>
          </a:prstGeom>
          <a:ln w="12700">
            <a:solidFill>
              <a:srgbClr val="5FD0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760659" y="717804"/>
            <a:ext cx="118872" cy="118872"/>
          </a:xfrm>
          <a:prstGeom prst="ellipse">
            <a:avLst/>
          </a:prstGeom>
          <a:solidFill>
            <a:srgbClr val="5FD0C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144707" y="406908"/>
            <a:ext cx="118872" cy="118872"/>
          </a:xfrm>
          <a:prstGeom prst="ellipse">
            <a:avLst/>
          </a:prstGeom>
          <a:solidFill>
            <a:srgbClr val="5FD0C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528755" y="717804"/>
            <a:ext cx="118872" cy="118872"/>
          </a:xfrm>
          <a:prstGeom prst="ellipse">
            <a:avLst/>
          </a:prstGeom>
          <a:solidFill>
            <a:srgbClr val="5FD0C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" y="1828800"/>
            <a:ext cx="7680960" cy="1143000"/>
          </a:xfrm>
          <a:prstGeom prst="roundRect">
            <a:avLst>
              <a:gd name="adj" fmla="val 6000"/>
            </a:avLst>
          </a:prstGeom>
          <a:solidFill>
            <a:srgbClr val="16324B"/>
          </a:solidFill>
          <a:ln>
            <a:noFill/>
          </a:ln>
          <a:effectLst/>
        </p:spPr>
        <p:txBody>
          <a:bodyPr rtlCol="0" anchor="ctr" wrap="square" lIns="182880" rIns="182880" tIns="128016" bIns="128016"/>
          <a:lstStyle/>
          <a:p>
            <a:pPr algn="l"/>
            <a:r>
              <a:rPr sz="3000" b="1" i="0">
                <a:solidFill>
                  <a:srgbClr val="5FD0CB"/>
                </a:solidFill>
                <a:latin typeface="Cambria"/>
              </a:rPr>
              <a:t>github.com/youlianvr/oneiro-ostis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291840"/>
            <a:ext cx="7680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AFC3D4"/>
                </a:solidFill>
                <a:latin typeface="Calibri"/>
              </a:rPr>
              <a:t>Прогон показа — scripts/forum-demo.py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0" i="0">
                <a:solidFill>
                  <a:srgbClr val="AFC3D4"/>
                </a:solidFill>
                <a:latin typeface="Calibri"/>
              </a:rPr>
              <a:t>Живые проверки — tests/live_*.py: вебхук, черновики, память, проактивность, офисная среда</a:t>
            </a:r>
          </a:p>
          <a:p>
            <a:pPr algn="l"/>
            <a:r>
              <a:rPr sz="1300" b="0" i="0">
                <a:solidFill>
                  <a:srgbClr val="AFC3D4"/>
                </a:solidFill>
                <a:latin typeface="Calibri"/>
              </a:rPr>
              <a:t>Речь, план и доказательства — docs/forumit-2026/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029200"/>
            <a:ext cx="8686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 i="0">
                <a:solidFill>
                  <a:srgbClr val="FFFFFF"/>
                </a:solidFill>
                <a:latin typeface="Cambria"/>
              </a:rPr>
              <a:t>Спасибо.</a:t>
            </a:r>
          </a:p>
          <a:p>
            <a:pPr algn="l"/>
            <a:r>
              <a:rPr sz="1300" b="0" i="0">
                <a:solidFill>
                  <a:srgbClr val="AFC3D4"/>
                </a:solidFill>
                <a:latin typeface="Calibri"/>
              </a:rPr>
              <a:t>Готов ответить на вопросы: что показано, чего ещё нет и почему.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9509760" y="1874519"/>
            <a:ext cx="1920240" cy="274321"/>
          </a:xfrm>
          <a:prstGeom prst="line">
            <a:avLst/>
          </a:prstGeom>
          <a:ln w="13970">
            <a:solidFill>
              <a:srgbClr val="0F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509760" y="2148840"/>
            <a:ext cx="274320" cy="1234440"/>
          </a:xfrm>
          <a:prstGeom prst="line">
            <a:avLst/>
          </a:prstGeom>
          <a:ln w="13970">
            <a:solidFill>
              <a:srgbClr val="0F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1430000" y="1874519"/>
            <a:ext cx="91440" cy="1188721"/>
          </a:xfrm>
          <a:prstGeom prst="line">
            <a:avLst/>
          </a:prstGeom>
          <a:ln w="13970">
            <a:solidFill>
              <a:srgbClr val="0F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9784080" y="3063240"/>
            <a:ext cx="1737360" cy="320040"/>
          </a:xfrm>
          <a:prstGeom prst="line">
            <a:avLst/>
          </a:prstGeom>
          <a:ln w="13970">
            <a:solidFill>
              <a:srgbClr val="0F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9418320" y="2057400"/>
            <a:ext cx="182880" cy="182880"/>
          </a:xfrm>
          <a:prstGeom prst="ellipse">
            <a:avLst/>
          </a:prstGeom>
          <a:solidFill>
            <a:srgbClr val="5FD0C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69680" y="228600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AFC3D4"/>
                </a:solidFill>
                <a:latin typeface="Calibri"/>
              </a:rPr>
              <a:t>память</a:t>
            </a:r>
          </a:p>
        </p:txBody>
      </p:sp>
      <p:sp>
        <p:nvSpPr>
          <p:cNvPr id="19" name="Oval 18"/>
          <p:cNvSpPr/>
          <p:nvPr/>
        </p:nvSpPr>
        <p:spPr>
          <a:xfrm>
            <a:off x="11338560" y="1783079"/>
            <a:ext cx="182880" cy="182880"/>
          </a:xfrm>
          <a:prstGeom prst="ellipse">
            <a:avLst/>
          </a:prstGeom>
          <a:solidFill>
            <a:srgbClr val="5FD0C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789920" y="2011679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AFC3D4"/>
                </a:solidFill>
                <a:latin typeface="Calibri"/>
              </a:rPr>
              <a:t>роли</a:t>
            </a:r>
          </a:p>
        </p:txBody>
      </p:sp>
      <p:sp>
        <p:nvSpPr>
          <p:cNvPr id="21" name="Oval 20"/>
          <p:cNvSpPr/>
          <p:nvPr/>
        </p:nvSpPr>
        <p:spPr>
          <a:xfrm>
            <a:off x="9692640" y="3291840"/>
            <a:ext cx="182880" cy="182880"/>
          </a:xfrm>
          <a:prstGeom prst="ellipse">
            <a:avLst/>
          </a:prstGeom>
          <a:solidFill>
            <a:srgbClr val="5FD0C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0" y="352044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AFC3D4"/>
                </a:solidFill>
                <a:latin typeface="Calibri"/>
              </a:rPr>
              <a:t>проверки</a:t>
            </a:r>
          </a:p>
        </p:txBody>
      </p:sp>
      <p:sp>
        <p:nvSpPr>
          <p:cNvPr id="23" name="Oval 22"/>
          <p:cNvSpPr/>
          <p:nvPr/>
        </p:nvSpPr>
        <p:spPr>
          <a:xfrm>
            <a:off x="11430000" y="2971800"/>
            <a:ext cx="182880" cy="182880"/>
          </a:xfrm>
          <a:prstGeom prst="ellipse">
            <a:avLst/>
          </a:prstGeom>
          <a:solidFill>
            <a:srgbClr val="5FD0C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881360" y="320040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AFC3D4"/>
                </a:solidFill>
                <a:latin typeface="Calibri"/>
              </a:rPr>
              <a:t>замеры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382512"/>
            <a:ext cx="101800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AFC3D4"/>
                </a:solidFill>
                <a:latin typeface="Calibri"/>
              </a:rPr>
              <a:t>Репозиторий открыт: проверено 2026-10-13 (api.github.com/repos/youlianvr/oneiro-ostis → HTTP 200)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11535" y="63825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AFC3D4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