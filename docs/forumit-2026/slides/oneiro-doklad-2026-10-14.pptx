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5A6B7B"/>
                </a:solidFill>
                <a:latin typeface="Calibri"/>
              </a:rPr>
              <a:t>Средние токены подсказки на задачу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средние токены подсказки</c:v>
                </c:pt>
              </c:strCache>
            </c:strRef>
          </c:tx>
          <c:dPt>
            <c:idx val="0"/>
            <c:spPr>
              <a:solidFill>
                <a:srgbClr val="0F7C86"/>
              </a:solidFill>
            </c:spPr>
          </c:dPt>
          <c:dPt>
            <c:idx val="1"/>
            <c:spPr>
              <a:solidFill>
                <a:srgbClr val="C2405A"/>
              </a:solidFill>
            </c:spPr>
          </c:dPt>
          <c:cat>
            <c:strRef>
              <c:f>Sheet1!$A$2:$A$3</c:f>
              <c:strCache>
                <c:ptCount val="2"/>
                <c:pt idx="0">
                  <c:v>контроль (recorded)</c:v>
                </c:pt>
                <c:pt idx="1">
                  <c:v>кандидат (windowed)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4583.0</c:v>
                </c:pt>
                <c:pt idx="1">
                  <c:v>4589.8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Титул.</a:t>
            </a:r>
          </a:p>
          <a:p>
            <a:r>
              <a:t>Кадр: Тема, автор, руководитель и школа — только на этом слайде.</a:t>
            </a:r>
          </a:p>
          <a:p>
            <a:r>
              <a:t>Ответы опроса: 5, 6</a:t>
            </a:r>
          </a:p>
          <a:p>
            <a:r>
              <a:t>Доказательство: docs/forumit-2026/Письмо-в-оргкомитет.md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ролей.</a:t>
            </a:r>
          </a:p>
          <a:p>
            <a:r>
              <a:t>Кадр: Три части системы и роли с их правами: право на отправку есть у исполнителя, у менеджера его нет.</a:t>
            </a:r>
          </a:p>
          <a:p>
            <a:r>
              <a:t>Ответы опроса: 37, 38, 49, 51, 54, 99</a:t>
            </a:r>
          </a:p>
          <a:p>
            <a:r>
              <a:t>Доказательство: python/oneiro/tools.py (ROLE_EFFECTS), python/oneiro/tasks.py (ROLES), python/oneiro/records.py (Approval.covers)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Память: виды записей и происхождение.</a:t>
            </a:r>
          </a:p>
          <a:p>
            <a:r>
              <a:t>Кадр: Записи разных видов, и у каждой — источник, дата создания и дата изменения.</a:t>
            </a:r>
          </a:p>
          <a:p>
            <a:r>
              <a:t>Ответы опроса: 19, 21, 31, 35</a:t>
            </a:r>
          </a:p>
          <a:p>
            <a:r>
              <a:t>Доказательство: python/oneiro/records.py (Provenance), python/oneiro/agent.py (remember → MODEL_CLAIM)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Правка не стирает прежнее значение.</a:t>
            </a:r>
          </a:p>
          <a:p>
            <a:r>
              <a:t>Кадр: Прежняя редакция того же факта остаётся со своей датой и своим источником; вся ли история прочитана, панель говорит.</a:t>
            </a:r>
          </a:p>
          <a:p>
            <a:r>
              <a:t>Ответы опроса: 27, 28</a:t>
            </a:r>
          </a:p>
          <a:p>
            <a:r>
              <a:t>Доказательство: python/oneiro/recall.py (history_complete), tests/live_memory_check.py — 22 шага, код 0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даёт память: два числа замера.</a:t>
            </a:r>
          </a:p>
          <a:p>
            <a:r>
              <a:t>Кадр: С памятью 0,73, без памяти 0,06 на пятидесяти вопросах; слабое место названо.</a:t>
            </a:r>
          </a:p>
          <a:p>
            <a:r>
              <a:t>Ответы опроса: 22, 24, 25, 30</a:t>
            </a:r>
          </a:p>
          <a:p>
            <a:r>
              <a:t>Доказательство: ~/.openclaw/bench-memory/runs/s-50-2-report.md (сохранённый прогон: 50 вопросов, судья вынес вердикт 49 клеткам графа и 50 — без памяти); bench/memory/run.py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памяти в панели.</a:t>
            </a:r>
          </a:p>
          <a:p>
            <a:r>
              <a:t>Кадр: Кадр панели: три факта владельца, источник, даты, прежнее значение.</a:t>
            </a:r>
          </a:p>
          <a:p>
            <a:r>
              <a:t>Ответы опроса: 32</a:t>
            </a:r>
          </a:p>
          <a:p>
            <a:r>
              <a:t>Доказательство: docs/forumit-2026/slides/img/ru-memory-facts.png (снят tests/live_slide_shots.py на отдельном корне данных и отдельном графе)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Автономность: границы записаны в коде.</a:t>
            </a:r>
          </a:p>
          <a:p>
            <a:r>
              <a:t>Кадр: Текстом, без схемы: пакеты не вливаются сами, одобрение привязано к точному вызову, изоляция контейнерная.</a:t>
            </a:r>
          </a:p>
          <a:p>
            <a:r>
              <a:t>Ответы опроса: 38, 45, 47, 48, 51, 54</a:t>
            </a:r>
          </a:p>
          <a:p>
            <a:r>
              <a:t>Доказательство: python/oneiro/tools.py (arguments_digest), python/oneiro/records.py (Approval), python/oneiro/web.py (/api/settings), python/oneiro/office_env.py, docker-compose.yml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Журнал организации.</a:t>
            </a:r>
          </a:p>
          <a:p>
            <a:r>
              <a:t>Кадр: Кадр панели: две задачи с ролями и состояниями и постоянное расписание с cron.</a:t>
            </a:r>
          </a:p>
          <a:p>
            <a:r>
              <a:t>Ответы опроса: 43</a:t>
            </a:r>
          </a:p>
          <a:p>
            <a:r>
              <a:t>Доказательство: docs/forumit-2026/slides/img/ru-tasks-journal.png (снят tests/live_slide_shots.py); python/oneiro/tasks.py, python/oneiro/schedule.py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Проактивность: расписание и тишина.</a:t>
            </a:r>
          </a:p>
          <a:p>
            <a:r>
              <a:t>Кадр: Расписание, тихие часы 22:00-09:00, один утренний разбор и одно повторное напоминание — на одном тике.</a:t>
            </a:r>
          </a:p>
          <a:p>
            <a:r>
              <a:t>Ответы опроса: 57, 58, 63, 65, 66, 67, 71, 73, 75</a:t>
            </a:r>
          </a:p>
          <a:p>
            <a:r>
              <a:t>Доказательство: python/oneiro/proactive.py, python/oneiro/schedule.py (tick), tests/live_proactive_check.py — 23 шага, код 0 (лог _tmp/recheck-20261013/live-proactive.log); docs/forumit-2026/slides/img/ru-initiative.png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Самоулучшение: механизм отказа.</a:t>
            </a:r>
          </a:p>
          <a:p>
            <a:r>
              <a:t>Кадр: Три правила: повтор только по наблюдаемому решению, три повтора на задачу, шлюз с отдельным применением и откатом.</a:t>
            </a:r>
          </a:p>
          <a:p>
            <a:r>
              <a:t>Ответы опроса: 80, 83, 86, 88, 93</a:t>
            </a:r>
          </a:p>
          <a:p>
            <a:r>
              <a:t>Доказательство: docs/harness.md (Judge calibration), harness/policy.py (VARIANTS), python/oneiro/dream/gate.py, python/oneiro/dream/measure.py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Отклонённый кандидат: одно число.</a:t>
            </a:r>
          </a:p>
          <a:p>
            <a:r>
              <a:t>Кадр: 4589,8 против 4583,0 — на 0,15 % дороже, разница не вышла за шум, изменение отклонено.</a:t>
            </a:r>
          </a:p>
          <a:p>
            <a:r>
              <a:t>Ответы опроса: 78</a:t>
            </a:r>
          </a:p>
          <a:p>
            <a:r>
              <a:t>Доказательство: docs/O8-2026-10-12.md, строки 119-130 и 241; payload _tmp/o8-live6-payload.json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дальше.</a:t>
            </a:r>
          </a:p>
          <a:p>
            <a:r>
              <a:t>Кадр: Поиск по смыслу, изоляция уровня отдельной машины, больше повторов в замерах.</a:t>
            </a:r>
          </a:p>
          <a:p>
            <a:r>
              <a:t>Ответы опроса: 13, 91, 94</a:t>
            </a:r>
          </a:p>
          <a:p>
            <a:r>
              <a:t>Доказательство: docs/TALK-RU-2026-10-13.md, раздел 9; docs/ACCEPTANCE-REPORT.md (границы)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Ссылка на исходный код.</a:t>
            </a:r>
          </a:p>
          <a:p>
            <a:r>
              <a:t>Кадр: Ссылка на репозиторий в последнем слайде и то, что в нём лежит.</a:t>
            </a:r>
          </a:p>
          <a:p>
            <a:r>
              <a:t>Ответы опроса: 14, 96, 100</a:t>
            </a:r>
          </a:p>
          <a:p>
            <a:r>
              <a:t>Доказательство: репозиторий открыт (проверено 2026-10-13: api.github.com/repos/youlianvr/oneiro-ostis → HTTP 200)</a:t>
            </a:r>
          </a:p>
          <a:p>
            <a:r>
              <a:t>Ничего, чего нет в этом файле, на слайде не утверждается. Формулировки из приложения C речи на слайдах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31520" y="502920"/>
            <a:ext cx="457200" cy="310896"/>
          </a:xfrm>
          <a:prstGeom prst="line">
            <a:avLst/>
          </a:prstGeom>
          <a:ln w="12700">
            <a:solidFill>
              <a:srgbClr val="5FD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1520" y="813816"/>
            <a:ext cx="914400" cy="0"/>
          </a:xfrm>
          <a:prstGeom prst="line">
            <a:avLst/>
          </a:prstGeom>
          <a:ln w="12700">
            <a:solidFill>
              <a:srgbClr val="5FD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8720" y="502920"/>
            <a:ext cx="457200" cy="310896"/>
          </a:xfrm>
          <a:prstGeom prst="line">
            <a:avLst/>
          </a:prstGeom>
          <a:ln w="12700">
            <a:solidFill>
              <a:srgbClr val="5FD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58368" y="740664"/>
            <a:ext cx="146304" cy="146304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429768"/>
            <a:ext cx="146304" cy="146304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740664"/>
            <a:ext cx="146304" cy="146304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D0CB"/>
                </a:solidFill>
                <a:latin typeface="Calibri"/>
              </a:rPr>
              <a:t>Форум, секция информатики · 14 октября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6858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FFFFFF"/>
                </a:solidFill>
                <a:latin typeface="Cambria"/>
              </a:rPr>
              <a:t>Oneiro-OSTIS: автономный агент с памятью в графе знаний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AFC3D4"/>
                </a:solidFill>
                <a:latin typeface="Calibri"/>
              </a:rPr>
              <a:t>Работа строится вокруг вопроса: какое наблюдение подтверждает каждое действие?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6858000" cy="1325880"/>
          </a:xfrm>
          <a:prstGeom prst="roundRect">
            <a:avLst>
              <a:gd name="adj" fmla="val 6000"/>
            </a:avLst>
          </a:prstGeom>
          <a:solidFill>
            <a:srgbClr val="16324B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Ступчик Юлиан Владиславович, учащийся 10 класса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AFC3D4"/>
                </a:solidFill>
                <a:latin typeface="Calibri"/>
              </a:rPr>
              <a:t>Государственное учреждение образования «Дубненская средняя школа имени Андрея Степановича Данилова», Гродненская область</a:t>
            </a:r>
          </a:p>
          <a:p>
            <a:pPr algn="l"/>
            <a:r>
              <a:rPr sz="1100" b="0" i="0">
                <a:solidFill>
                  <a:srgbClr val="AFC3D4"/>
                </a:solidFill>
                <a:latin typeface="Calibri"/>
              </a:rPr>
              <a:t>Научный руководитель: Ковалевская Ольга Вячеславовна, учитель информатики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1874519"/>
            <a:ext cx="228600" cy="1188721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549640" y="1572768"/>
            <a:ext cx="2194560" cy="301751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744200" y="1572768"/>
            <a:ext cx="182880" cy="1216152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778240" y="2788920"/>
            <a:ext cx="2148840" cy="274320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3063240"/>
            <a:ext cx="1051560" cy="1143000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829800" y="2788920"/>
            <a:ext cx="1097280" cy="1417320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449056" y="1773935"/>
            <a:ext cx="201168" cy="201168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02082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задача</a:t>
            </a:r>
          </a:p>
        </p:txBody>
      </p:sp>
      <p:sp>
        <p:nvSpPr>
          <p:cNvPr id="21" name="Oval 20"/>
          <p:cNvSpPr/>
          <p:nvPr/>
        </p:nvSpPr>
        <p:spPr>
          <a:xfrm>
            <a:off x="10643616" y="1472184"/>
            <a:ext cx="201168" cy="201168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719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черновик</a:t>
            </a:r>
          </a:p>
        </p:txBody>
      </p:sp>
      <p:sp>
        <p:nvSpPr>
          <p:cNvPr id="23" name="Oval 22"/>
          <p:cNvSpPr/>
          <p:nvPr/>
        </p:nvSpPr>
        <p:spPr>
          <a:xfrm>
            <a:off x="8677656" y="2962656"/>
            <a:ext cx="201168" cy="201168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2095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одобрение</a:t>
            </a:r>
          </a:p>
        </p:txBody>
      </p:sp>
      <p:sp>
        <p:nvSpPr>
          <p:cNvPr id="25" name="Oval 24"/>
          <p:cNvSpPr/>
          <p:nvPr/>
        </p:nvSpPr>
        <p:spPr>
          <a:xfrm>
            <a:off x="10826496" y="2688336"/>
            <a:ext cx="201168" cy="201168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93522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запись</a:t>
            </a:r>
          </a:p>
        </p:txBody>
      </p:sp>
      <p:sp>
        <p:nvSpPr>
          <p:cNvPr id="27" name="Oval 26"/>
          <p:cNvSpPr/>
          <p:nvPr/>
        </p:nvSpPr>
        <p:spPr>
          <a:xfrm>
            <a:off x="9729216" y="4105655"/>
            <a:ext cx="201168" cy="201168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43525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опыт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FC3D4"/>
                </a:solidFill>
                <a:latin typeface="Calibri"/>
              </a:rPr>
              <a:t>Гродненская область,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Как устроена работа и роли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4114800" cy="3044952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2000"/>
              </a:spcAft>
            </a:pPr>
            <a:r>
              <a:rPr sz="1600" b="1" i="0">
                <a:solidFill>
                  <a:srgbClr val="0E2438"/>
                </a:solidFill>
                <a:latin typeface="Cambria"/>
              </a:rPr>
              <a:t>Три части системы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350" b="0" i="0">
                <a:solidFill>
                  <a:srgbClr val="1D2A38"/>
                </a:solidFill>
                <a:latin typeface="Calibri"/>
              </a:rPr>
              <a:t>Модель предлагает текст и вызовы инструментов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350" b="0" i="0">
                <a:solidFill>
                  <a:srgbClr val="1D2A38"/>
                </a:solidFill>
                <a:latin typeface="Calibri"/>
              </a:rPr>
              <a:t>Исполнитель проверяет право на вызов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350" b="0" i="0">
                <a:solidFill>
                  <a:srgbClr val="1D2A38"/>
                </a:solidFill>
                <a:latin typeface="Calibri"/>
              </a:rPr>
              <a:t>Память удерживает записи и связи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Внешние инструменты подключаются по MCP: сервер объявляет инструмент и схему аргументов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1298448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2438"/>
                </a:solidFill>
                <a:latin typeface="Cambria"/>
              </a:rPr>
              <a:t>Менеджер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D2A38"/>
                </a:solidFill>
                <a:latin typeface="Calibri"/>
              </a:rPr>
              <a:t>ведёт разговор и ставит задачу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F7C86"/>
                </a:solidFill>
                <a:latin typeface="Calibri"/>
              </a:rPr>
              <a:t>права на отправку нет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1298448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2438"/>
                </a:solidFill>
                <a:latin typeface="Cambria"/>
              </a:rPr>
              <a:t>Исследователь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D2A38"/>
                </a:solidFill>
                <a:latin typeface="Calibri"/>
              </a:rPr>
              <a:t>ищет и читает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F7C86"/>
                </a:solidFill>
                <a:latin typeface="Calibri"/>
              </a:rPr>
              <a:t>права на отправку нет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2926080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2438"/>
                </a:solidFill>
                <a:latin typeface="Cambria"/>
              </a:rPr>
              <a:t>Исполнитель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D2A38"/>
                </a:solidFill>
                <a:latin typeface="Calibri"/>
              </a:rPr>
              <a:t>выполняет и получает право на отправку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F7C86"/>
                </a:solidFill>
                <a:latin typeface="Calibri"/>
              </a:rPr>
              <a:t>роль записана в задаче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6" y="2926080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2438"/>
                </a:solidFill>
                <a:latin typeface="Cambria"/>
              </a:rPr>
              <a:t>Права различаются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D2A38"/>
                </a:solidFill>
                <a:latin typeface="Calibri"/>
              </a:rPr>
              <a:t>каждая роль видит только свои инструменты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F7C86"/>
                </a:solidFill>
                <a:latin typeface="Calibri"/>
              </a:rPr>
              <a:t>граница объявлена в коде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45152"/>
            <a:ext cx="11094415" cy="1170432"/>
          </a:xfrm>
          <a:prstGeom prst="roundRect">
            <a:avLst>
              <a:gd name="adj" fmla="val 6000"/>
            </a:avLst>
          </a:prstGeom>
          <a:solidFill>
            <a:srgbClr val="DFE9F1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E2438"/>
                </a:solidFill>
                <a:latin typeface="Calibri"/>
              </a:rPr>
              <a:t>Пакет изменений не вливается сам: одобрение привязано к точному вызову с точными аргументами.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Изменился адресат или текст — человек решает заново. Роль записана в самой задаче, поэтому видно, кто её выполнял.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python/oneiro/tools.py (ROLE_EFFECTS) · python/oneiro/records.py (Approval.covers) · python/oneiro/tasks.py (ROLES)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Память: типизированные записи и происхождение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2438"/>
                </a:solidFill>
                <a:latin typeface="Cambria"/>
              </a:rPr>
              <a:t>Виды записей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сообщение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392" y="1691640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задача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691640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действие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2896" y="1691640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одобрение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95144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наблюдение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93392" y="2295144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опыт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295144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заметка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82896" y="2295144"/>
            <a:ext cx="1335024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50" b="0" i="0">
                <a:solidFill>
                  <a:srgbClr val="1D2A38"/>
                </a:solidFill>
                <a:latin typeface="Calibri"/>
              </a:rPr>
              <a:t>курируемый факт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0" i="0">
                <a:solidFill>
                  <a:srgbClr val="1D2A38"/>
                </a:solidFill>
                <a:latin typeface="Calibri"/>
              </a:rPr>
              <a:t>Больше всего мне важны решения и ошибки: по ним видно, как система работала и где ошибалась.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Запись — не строка журнала переписки: у неё есть вид, источник и связи с другими записями.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80160"/>
            <a:ext cx="5056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2438"/>
                </a:solidFill>
                <a:latin typeface="Cambria"/>
              </a:rPr>
              <a:t>Происхождение записи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691640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2438"/>
                </a:solidFill>
                <a:latin typeface="Calibri"/>
              </a:rPr>
              <a:t>сказал владелец</a:t>
            </a:r>
          </a:p>
          <a:p>
            <a:pPr algn="l"/>
            <a:r>
              <a:rPr sz="1050" b="0" i="0">
                <a:solidFill>
                  <a:srgbClr val="5A6B7B"/>
                </a:solidFill>
                <a:latin typeface="Calibri"/>
              </a:rPr>
              <a:t>указание владельца: это утверждение человека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404872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2438"/>
                </a:solidFill>
                <a:latin typeface="Calibri"/>
              </a:rPr>
              <a:t>заявила модель</a:t>
            </a:r>
          </a:p>
          <a:p>
            <a:pPr algn="l"/>
            <a:r>
              <a:rPr sz="1050" b="0" i="0">
                <a:solidFill>
                  <a:srgbClr val="5A6B7B"/>
                </a:solidFill>
                <a:latin typeface="Calibri"/>
              </a:rPr>
              <a:t>утверждение модели, а не проверенное доказательство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118104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2438"/>
                </a:solidFill>
                <a:latin typeface="Calibri"/>
              </a:rPr>
              <a:t>наблюдал инструмент</a:t>
            </a:r>
          </a:p>
          <a:p>
            <a:pPr algn="l"/>
            <a:r>
              <a:rPr sz="1050" b="0" i="0">
                <a:solidFill>
                  <a:srgbClr val="5A6B7B"/>
                </a:solidFill>
                <a:latin typeface="Calibri"/>
              </a:rPr>
              <a:t>наблюдение: то, что видел вызов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831335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2438"/>
                </a:solidFill>
                <a:latin typeface="Calibri"/>
              </a:rPr>
              <a:t>проверил результат вызова</a:t>
            </a:r>
          </a:p>
          <a:p>
            <a:pPr algn="l"/>
            <a:r>
              <a:rPr sz="1050" b="0" i="0">
                <a:solidFill>
                  <a:srgbClr val="5A6B7B"/>
                </a:solidFill>
                <a:latin typeface="Calibri"/>
              </a:rPr>
              <a:t>проверенный результат, а не обещание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5760720" cy="1170432"/>
          </a:xfrm>
          <a:prstGeom prst="roundRect">
            <a:avLst>
              <a:gd name="adj" fmla="val 6000"/>
            </a:avLst>
          </a:prstGeom>
          <a:solidFill>
            <a:srgbClr val="DFE9F1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E2438"/>
                </a:solidFill>
                <a:latin typeface="Cambria"/>
              </a:rPr>
              <a:t>Связи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D2A38"/>
                </a:solidFill>
                <a:latin typeface="Calibri"/>
              </a:rPr>
              <a:t>Задача связана с запуском, запуск — с действием, одобрение — с точным вызовом. По этим связям видно, откуда взялась запись и что за ней последовало.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526280"/>
            <a:ext cx="5056632" cy="1170432"/>
          </a:xfrm>
          <a:prstGeom prst="roundRect">
            <a:avLst>
              <a:gd name="adj" fmla="val 6000"/>
            </a:avLst>
          </a:prstGeom>
          <a:solidFill>
            <a:srgbClr val="DFE9F1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1D2A38"/>
                </a:solidFill>
                <a:latin typeface="Calibri"/>
              </a:rPr>
              <a:t>У каждой записи есть дата создания и дата изменения.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По источнику видно, можно ли опираться на запись.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python/oneiro/records.py (Provenance) · python/oneiro/agent.py (remember → MODEL_CLAIM)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Правка не стирает прежнее значение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5852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0E2438"/>
                </a:solidFill>
                <a:latin typeface="Calibri"/>
              </a:rPr>
              <a:t>Владелец пишет по-русски и по-английски</a:t>
            </a:r>
          </a:p>
          <a:p>
            <a:pPr algn="l"/>
            <a:r>
              <a:rPr sz="1050" b="0" i="0">
                <a:solidFill>
                  <a:srgbClr val="5A6B7B"/>
                </a:solidFill>
                <a:latin typeface="Calibri"/>
              </a:rPr>
              <a:t>источник: указание владельца · записан: 2026-10-13 01:29 · изменён: 2026-10-13 01:29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8716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F7C86"/>
                </a:solidFill>
                <a:latin typeface="Calibri"/>
              </a:rPr>
              <a:t>правка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2542032"/>
            <a:ext cx="0" cy="512064"/>
          </a:xfrm>
          <a:prstGeom prst="line">
            <a:avLst/>
          </a:prstGeom>
          <a:ln w="15875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127248"/>
            <a:ext cx="5852160" cy="128016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A6B7B"/>
                </a:solidFill>
                <a:latin typeface="Calibri"/>
              </a:rPr>
              <a:t>Прежнее значение — остаётся в записи с датой и источником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E2438"/>
                </a:solidFill>
                <a:latin typeface="Calibri"/>
              </a:rPr>
              <a:t>Владелец пишет по-русски</a:t>
            </a:r>
          </a:p>
          <a:p>
            <a:pPr algn="l"/>
            <a:r>
              <a:rPr sz="1050" b="0" i="0">
                <a:solidFill>
                  <a:srgbClr val="5A6B7B"/>
                </a:solidFill>
                <a:latin typeface="Calibri"/>
              </a:rPr>
              <a:t>источник: указание владельца · изменён: 2026-10-13 01:29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325880"/>
            <a:ext cx="487375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E2438"/>
                </a:solidFill>
                <a:latin typeface="Cambria"/>
              </a:rPr>
              <a:t>Что делает система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0" i="0">
                <a:solidFill>
                  <a:srgbClr val="1D2A38"/>
                </a:solidFill>
                <a:latin typeface="Calibri"/>
              </a:rPr>
              <a:t>Старая редакция того же факта остаётся рядом — со своей датой и своим источником.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0" i="0">
                <a:solidFill>
                  <a:srgbClr val="1D2A38"/>
                </a:solidFill>
                <a:latin typeface="Calibri"/>
              </a:rPr>
              <a:t>Панель называет, прочитана ли история записей целиком: оборванное чтение не выглядит полным.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Помечается прежняя редакция того же факта. Суждения о совместимости двух разных записей нет: обосновать его система не может, и видимость пометки была бы хуже её отсутствия.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11094415" cy="1188720"/>
          </a:xfrm>
          <a:prstGeom prst="roundRect">
            <a:avLst>
              <a:gd name="adj" fmla="val 6000"/>
            </a:avLst>
          </a:prstGeom>
          <a:solidFill>
            <a:srgbClr val="DFE9F1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E2438"/>
                </a:solidFill>
                <a:latin typeface="Calibri"/>
              </a:rPr>
              <a:t>Как это проверено: живая проверка записывает факт, правит его и читает раздел обратно — 22 шага, код 0.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Предел курируемой памяти — 2000 символов, и он проверяется до записи: если сохранённое не удаётся прочитать целиком, запись отказывается.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python/oneiro/recall.py (history_complete) · tests/live_memory_check.py — 22 шага, код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Что даёт память: два числа сохранённого замера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400"/>
              </a:spcAft>
            </a:pPr>
            <a:r>
              <a:rPr sz="5200" b="1" i="0">
                <a:solidFill>
                  <a:srgbClr val="0F7C86"/>
                </a:solidFill>
                <a:latin typeface="Cambria"/>
              </a:rPr>
              <a:t>0,73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2438"/>
                </a:solidFill>
                <a:latin typeface="Calibri"/>
              </a:rPr>
              <a:t>верных ответов с памятью</a:t>
            </a:r>
          </a:p>
          <a:p>
            <a:pPr algn="l"/>
            <a:r>
              <a:rPr sz="1200" b="0" i="0">
                <a:solidFill>
                  <a:srgbClr val="5A6B7B"/>
                </a:solidFill>
                <a:latin typeface="Calibri"/>
              </a:rPr>
              <a:t>память в типизированном графе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32588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400"/>
              </a:spcAft>
            </a:pPr>
            <a:r>
              <a:rPr sz="5200" b="1" i="0">
                <a:solidFill>
                  <a:srgbClr val="0F7C86"/>
                </a:solidFill>
                <a:latin typeface="Cambria"/>
              </a:rPr>
              <a:t>0,06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2438"/>
                </a:solidFill>
                <a:latin typeface="Calibri"/>
              </a:rPr>
              <a:t>верных ответов без памяти</a:t>
            </a:r>
          </a:p>
          <a:p>
            <a:pPr algn="l"/>
            <a:r>
              <a:rPr sz="1200" b="0" i="0">
                <a:solidFill>
                  <a:srgbClr val="5A6B7B"/>
                </a:solidFill>
                <a:latin typeface="Calibri"/>
              </a:rPr>
              <a:t>тот же вопрос, память отключена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LongMemEval, 50 вопросов, сохранённый прогон; верных ответов — доля клеток, которым судья вынес вердикт.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Слабое место — вопросы про время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Они даются хуже остальных. Это ограничение, а не победа.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397763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Поиск по памяти — по словам и связям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Поиск «по смыслу» — цель, а не сделанное.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~/.openclaw/bench-memory/runs/s-50-2-report.md (сохранённый прогон) · bench/memory/run.py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Раздел памяти в панели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ru-memory-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62" y="1188720"/>
            <a:ext cx="4120195" cy="2331720"/>
          </a:xfrm>
          <a:prstGeom prst="rect">
            <a:avLst/>
          </a:prstGeom>
          <a:ln w="12700">
            <a:solidFill>
              <a:srgbClr val="DFE9F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6301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Раздел «Курируемая память» целиком: три факта владельца.</a:t>
            </a:r>
          </a:p>
        </p:txBody>
      </p:sp>
      <p:pic>
        <p:nvPicPr>
          <p:cNvPr id="11" name="Picture 10" descr="ru-memory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06769"/>
            <a:ext cx="6263640" cy="1655541"/>
          </a:xfrm>
          <a:prstGeom prst="rect">
            <a:avLst/>
          </a:prstGeom>
          <a:ln w="12700">
            <a:solidFill>
              <a:srgbClr val="DFE9F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0" y="2972038"/>
            <a:ext cx="6263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Одна запись крупно: источник, даты и прежнее значение правки.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70248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22452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Строка «источник»: это утверждение владельца, а не наблюдение инструмента.</a:t>
            </a:r>
          </a:p>
        </p:txBody>
      </p:sp>
      <p:sp>
        <p:nvSpPr>
          <p:cNvPr id="15" name="Oval 14"/>
          <p:cNvSpPr/>
          <p:nvPr/>
        </p:nvSpPr>
        <p:spPr>
          <a:xfrm>
            <a:off x="6153912" y="4270248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422452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Даты «записан» и «изменён»: когда запись появилась и менялась ли после.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056632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01091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Блок «Прежнее значение»: то, что правка заменила, со своим источником.</a:t>
            </a:r>
          </a:p>
        </p:txBody>
      </p:sp>
      <p:sp>
        <p:nvSpPr>
          <p:cNvPr id="19" name="Oval 18"/>
          <p:cNvSpPr/>
          <p:nvPr/>
        </p:nvSpPr>
        <p:spPr>
          <a:xfrm>
            <a:off x="6153912" y="5056632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501091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Счётчик символов: у курируемой памяти объявлен предел 2000.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docs/forumit-2026/slides/img/ · tests/live_slide_shots.py (отдельный корень данных и отдельный граф)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Автономность: границы записаны в коде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399032"/>
            <a:ext cx="292608" cy="292608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3" y="1472184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7C86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32588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Пакеты не вливаются сами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Изменение проходит шлюз; применение и откат — отдельные записанные действия.</a:t>
            </a:r>
          </a:p>
        </p:txBody>
      </p:sp>
      <p:sp>
        <p:nvSpPr>
          <p:cNvPr id="12" name="Oval 11"/>
          <p:cNvSpPr/>
          <p:nvPr/>
        </p:nvSpPr>
        <p:spPr>
          <a:xfrm>
            <a:off x="6153912" y="1399032"/>
            <a:ext cx="292608" cy="292608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472184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7C8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32588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Одобрение привязано к точным аргументам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Человек разрешает не намерение, а конкретный вызов.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532887"/>
            <a:ext cx="292608" cy="292608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3" y="2606040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7C8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459736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Правила и записи меняет человек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Агент не трогает свои данные — правила и записи меняет человек.</a:t>
            </a:r>
          </a:p>
        </p:txBody>
      </p:sp>
      <p:sp>
        <p:nvSpPr>
          <p:cNvPr id="18" name="Oval 17"/>
          <p:cNvSpPr/>
          <p:nvPr/>
        </p:nvSpPr>
        <p:spPr>
          <a:xfrm>
            <a:off x="6153912" y="2532887"/>
            <a:ext cx="292608" cy="292608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2606040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7C86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459736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Инструменты MCP объявляют схему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Нет обязательного поля — отказ с причиной, а не догадка.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66744"/>
            <a:ext cx="292608" cy="292608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3" y="3739896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7C86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93591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Остановить может человек и его правила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Право на эффект объявлено ролью и настройкой разрешений.</a:t>
            </a:r>
          </a:p>
        </p:txBody>
      </p:sp>
      <p:sp>
        <p:nvSpPr>
          <p:cNvPr id="24" name="Oval 23"/>
          <p:cNvSpPr/>
          <p:nvPr/>
        </p:nvSpPr>
        <p:spPr>
          <a:xfrm>
            <a:off x="6153912" y="3666744"/>
            <a:ext cx="292608" cy="292608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3739896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7C86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593591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E2438"/>
                </a:solidFill>
                <a:latin typeface="Calibri"/>
              </a:rPr>
              <a:t>Изоляция контейнерная, не машинная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Docker и WSL2; изоляция уровня отдельной машины — цель, и она названа целью.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DFE9F1"/>
          </a:solidFill>
          <a:ln>
            <a:noFill/>
          </a:ln>
          <a:effectLst/>
        </p:spPr>
        <p:txBody>
          <a:bodyPr rtlCol="0" anchor="ctr" wrap="square" lIns="182880" rIns="182880" tIns="128016" bIns="128016"/>
          <a:lstStyle/>
          <a:p>
            <a:pPr algn="l"/>
            <a:r>
              <a:rPr sz="1450" b="1" i="0">
                <a:solidFill>
                  <a:srgbClr val="0E2438"/>
                </a:solidFill>
                <a:latin typeface="Calibri"/>
              </a:rPr>
              <a:t>Система работает сама в пределах настроенных правил и останавливается там, где нужно решение человека.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python/oneiro/tools.py (arguments_digest) · python/oneiro/records.py (Approval) · python/oneiro/web.py (/api/settings)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Журнал организации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ru-tasks-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36" y="1142999"/>
            <a:ext cx="10038822" cy="3291840"/>
          </a:xfrm>
          <a:prstGeom prst="rect">
            <a:avLst/>
          </a:prstGeom>
          <a:ln w="12700">
            <a:solidFill>
              <a:srgbClr val="DFE9F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54456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Экран задач панели: две задачи с ролями и состояниями и постоянное расписание с cron. Кадр снят tests/live_slide_shots.py.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992624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956048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Роль записана в задаче, поэтому видно, кто её выполнял.</a:t>
            </a:r>
          </a:p>
        </p:txBody>
      </p:sp>
      <p:sp>
        <p:nvSpPr>
          <p:cNvPr id="13" name="Oval 12"/>
          <p:cNvSpPr/>
          <p:nvPr/>
        </p:nvSpPr>
        <p:spPr>
          <a:xfrm>
            <a:off x="6153912" y="4992624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956048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Расписание — запись в памяти, а не строка настроек: оно переживает перезапуск.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650992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614416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Задача по расписанию идёт в ту же очередь и проходит те же ограничения.</a:t>
            </a:r>
          </a:p>
        </p:txBody>
      </p:sp>
      <p:sp>
        <p:nvSpPr>
          <p:cNvPr id="17" name="Oval 16"/>
          <p:cNvSpPr/>
          <p:nvPr/>
        </p:nvSpPr>
        <p:spPr>
          <a:xfrm>
            <a:off x="6153912" y="5650992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5614416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Интервалы и расписание задаёт человек — система не выбирает их сама.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docs/forumit-2026/slides/img/ru-tasks-journal.png · python/oneiro/tasks.py · python/oneiro/schedule.py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Проактивность: расписание и тишина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307592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261872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Работа в фоне по расписанию: интервалы и время задаёт человек.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020824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975104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Тихие часы 22:00-09:00: работа идёт, уведомления удерживаются, а не приходят ночью по одному.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34056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688336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Утром — один разбор: что завершено, что ждёт решения, где был отказ.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447288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401568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Если человек не ответил, напоминание приходит один раз — не бесконечно.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160520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114800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Разбор и напоминание решает тот же тик, что и расписание: второго таймера нет.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73752"/>
            <a:ext cx="164592" cy="16459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828032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Система не молчит до конца: она либо делает, либо говорит, что не смогла.</a:t>
            </a:r>
          </a:p>
        </p:txBody>
      </p:sp>
      <p:pic>
        <p:nvPicPr>
          <p:cNvPr id="21" name="Picture 20" descr="ru-initiative-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27" y="1234440"/>
            <a:ext cx="6261376" cy="3840480"/>
          </a:xfrm>
          <a:prstGeom prst="rect">
            <a:avLst/>
          </a:prstGeom>
          <a:ln w="12700">
            <a:solidFill>
              <a:srgbClr val="DFE9F1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5303520" y="5184648"/>
            <a:ext cx="6336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Фрагмент раздела «Инициатива» крупно: тихие часы со значением и объяснением и утренняя сводка. Раздел целиком — img/ru-initiative.png.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python/oneiro/proactive.py · python/oneiro/schedule.py (tick) · tests/live_proactive_check.py — 23 шага, код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Самоулучшение: механизм отказа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618488"/>
            <a:ext cx="457200" cy="457200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274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F7C86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40280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2438"/>
                </a:solidFill>
                <a:latin typeface="Cambria"/>
              </a:rPr>
              <a:t>Повтор только по записи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880360"/>
            <a:ext cx="3026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D2A38"/>
                </a:solidFill>
                <a:latin typeface="Calibri"/>
              </a:rPr>
              <a:t>Эпизод повторяется там, где решение уже наблюдалось. Где решения нет, эпизод обрывается, а покрытие показывается числом.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1" y="137160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5151" y="1618488"/>
            <a:ext cx="457200" cy="457200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700784"/>
            <a:ext cx="274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F7C86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2438"/>
                </a:solidFill>
                <a:latin typeface="Cambria"/>
              </a:rPr>
              <a:t>Три повтора на задачу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80360"/>
            <a:ext cx="3026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D2A38"/>
                </a:solidFill>
                <a:latin typeface="Calibri"/>
              </a:rPr>
              <a:t>Кандидатов сравнивают на настоящих запусках: одиночный запуск легко попадает на хорошую сторону случайности.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3" y="137160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67344" y="1618488"/>
            <a:ext cx="457200" cy="457200"/>
          </a:xfrm>
          <a:prstGeom prst="ellipse">
            <a:avLst/>
          </a:prstGeom>
          <a:solidFill>
            <a:srgbClr val="DF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1700784"/>
            <a:ext cx="274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F7C86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240280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2438"/>
                </a:solidFill>
                <a:latin typeface="Cambria"/>
              </a:rPr>
              <a:t>Шлюз, применение, откат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880360"/>
            <a:ext cx="3026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D2A38"/>
                </a:solidFill>
                <a:latin typeface="Calibri"/>
              </a:rPr>
              <a:t>Новое поведение не применяется само. Применение и откат — отдельные записанные действия, утверждает изменение человек.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DFE9F1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E2438"/>
                </a:solidFill>
                <a:latin typeface="Calibri"/>
              </a:rPr>
              <a:t>Масштаб механизма измерен: семь контрольных политик, написанных вручную, оценили по записям и измерили на запусках.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Оценка судьи разошлась с замером от −43 % до +26 % — поэтому кандидатов сравнивают запусками, а не оценкой.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docs/harness.md (Judge calibration) · harness/policy.py (VARIANTS) · python/oneiro/dream/gate.py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Отклонённый кандидат: одно число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371600"/>
          <a:ext cx="5943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0" y="1371600"/>
            <a:ext cx="4782312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E2438"/>
                </a:solidFill>
                <a:latin typeface="Cambria"/>
              </a:rPr>
              <a:t>4589,8 против 4583,0</a:t>
            </a:r>
          </a:p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C2405A"/>
                </a:solidFill>
                <a:latin typeface="Calibri"/>
              </a:rPr>
              <a:t>на 0,15 % дороже контроля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0" i="0">
                <a:solidFill>
                  <a:srgbClr val="1D2A38"/>
                </a:solidFill>
                <a:latin typeface="Calibri"/>
              </a:rPr>
              <a:t>Разница не вышла за шум: beyond_noise — false.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0" i="0">
                <a:solidFill>
                  <a:srgbClr val="1D2A38"/>
                </a:solidFill>
                <a:latin typeface="Calibri"/>
              </a:rPr>
              <a:t>Кандидат отклонён. Это и есть полезный результат: система отказалась от изменения, которое выглядело разумным, но не подтвердилось.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Ускорения и экономии не обещаю: в замере их нет.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docs/O8-2026-10-12.md, строки 119-130 и 241 · payload _tmp/o8-live6-payload.json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E2438"/>
                </a:solidFill>
                <a:latin typeface="Cambria"/>
              </a:rPr>
              <a:t>Что дальше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0F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0E2438"/>
                </a:solidFill>
                <a:latin typeface="Cambria"/>
              </a:rPr>
              <a:t>Поиск по смыслу по памяти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Сегодня поиск токенный: по словам и связям. Семантический поиск — следующая работа.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0E2438"/>
                </a:solidFill>
                <a:latin typeface="Cambria"/>
              </a:rPr>
              <a:t>Изоляция уровня отдельной машины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Сейчас изоляция контейнерная. Границу обеспечивает Docker и WSL2.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3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0E2438"/>
                </a:solidFill>
                <a:latin typeface="Cambria"/>
              </a:rPr>
              <a:t>Больше повторов в замерах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Чтобы экономия подтверждалась на нескольких наборах задач, а не на одном.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1094415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9F1"/>
            </a:solidFill>
          </a:ln>
          <a:effectLst/>
        </p:spPr>
        <p:txBody>
          <a:bodyPr rtlCol="0" anchor="t" wrap="square" lIns="182880" rIns="182880" tIns="128016" bIns="128016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E2438"/>
                </a:solidFill>
                <a:latin typeface="Calibri"/>
              </a:rPr>
              <a:t>Отказ уже работает: следующий шаг — масштаб измерения.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D2A38"/>
                </a:solidFill>
                <a:latin typeface="Calibri"/>
              </a:rPr>
              <a:t>Для меня главный вывод — не набор возможностей, а понятные границы уверенности: система различает намерение, разрешение, исполнение и подтверждение. По этому различию человек доверяет результату ровно настолько, насколько он проверен.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7B"/>
                </a:solidFill>
                <a:latin typeface="Calibri"/>
              </a:rPr>
              <a:t>docs/TALK-RU-2026-10-13.md, раздел 9 · docs/ACCEPTANCE-REPORT.md (границы)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Cambria"/>
              </a:rPr>
              <a:t>Ссылка на исходный код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0820095" y="466344"/>
            <a:ext cx="384048" cy="310896"/>
          </a:xfrm>
          <a:prstGeom prst="line">
            <a:avLst/>
          </a:prstGeom>
          <a:ln w="12700">
            <a:solidFill>
              <a:srgbClr val="5FD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820095" y="777240"/>
            <a:ext cx="768096" cy="0"/>
          </a:xfrm>
          <a:prstGeom prst="line">
            <a:avLst/>
          </a:prstGeom>
          <a:ln w="12700">
            <a:solidFill>
              <a:srgbClr val="5FD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04143" y="466344"/>
            <a:ext cx="384048" cy="310896"/>
          </a:xfrm>
          <a:prstGeom prst="line">
            <a:avLst/>
          </a:prstGeom>
          <a:ln w="12700">
            <a:solidFill>
              <a:srgbClr val="5FD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760659" y="717804"/>
            <a:ext cx="118872" cy="118872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44707" y="406908"/>
            <a:ext cx="118872" cy="118872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8755" y="717804"/>
            <a:ext cx="118872" cy="118872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7680960" cy="1143000"/>
          </a:xfrm>
          <a:prstGeom prst="roundRect">
            <a:avLst>
              <a:gd name="adj" fmla="val 6000"/>
            </a:avLst>
          </a:prstGeom>
          <a:solidFill>
            <a:srgbClr val="16324B"/>
          </a:solidFill>
          <a:ln>
            <a:noFill/>
          </a:ln>
          <a:effectLst/>
        </p:spPr>
        <p:txBody>
          <a:bodyPr rtlCol="0" anchor="ctr" wrap="square" lIns="182880" rIns="182880" tIns="128016" bIns="128016"/>
          <a:lstStyle/>
          <a:p>
            <a:pPr algn="l"/>
            <a:r>
              <a:rPr sz="3000" b="1" i="0">
                <a:solidFill>
                  <a:srgbClr val="5FD0CB"/>
                </a:solidFill>
                <a:latin typeface="Cambria"/>
              </a:rPr>
              <a:t>github.com/youlianvr/oneiro-ostis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AFC3D4"/>
                </a:solidFill>
                <a:latin typeface="Calibri"/>
              </a:rPr>
              <a:t>Прогон показа — scripts/forum-demo.py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AFC3D4"/>
                </a:solidFill>
                <a:latin typeface="Calibri"/>
              </a:rPr>
              <a:t>Живые проверки — tests/live_*.py: вебхук, черновики, память, проактивность, офисная среда</a:t>
            </a:r>
          </a:p>
          <a:p>
            <a:pPr algn="l"/>
            <a:r>
              <a:rPr sz="1300" b="0" i="0">
                <a:solidFill>
                  <a:srgbClr val="AFC3D4"/>
                </a:solidFill>
                <a:latin typeface="Calibri"/>
              </a:rPr>
              <a:t>Речь, план и доказательства — docs/forumit-2026/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Спасибо.</a:t>
            </a:r>
          </a:p>
          <a:p>
            <a:pPr algn="l"/>
            <a:r>
              <a:rPr sz="1300" b="0" i="0">
                <a:solidFill>
                  <a:srgbClr val="AFC3D4"/>
                </a:solidFill>
                <a:latin typeface="Calibri"/>
              </a:rPr>
              <a:t>Готов ответить на вопросы: что показано, чего ещё нет и почему.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509760" y="1874519"/>
            <a:ext cx="1920240" cy="274321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09760" y="2148840"/>
            <a:ext cx="274320" cy="1234440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0" y="1874519"/>
            <a:ext cx="91440" cy="1188721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784080" y="3063240"/>
            <a:ext cx="1737360" cy="320040"/>
          </a:xfrm>
          <a:prstGeom prst="line">
            <a:avLst/>
          </a:prstGeom>
          <a:ln w="13970">
            <a:solidFill>
              <a:srgbClr val="0F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418320" y="2057400"/>
            <a:ext cx="182880" cy="182880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2860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память</a:t>
            </a:r>
          </a:p>
        </p:txBody>
      </p:sp>
      <p:sp>
        <p:nvSpPr>
          <p:cNvPr id="19" name="Oval 18"/>
          <p:cNvSpPr/>
          <p:nvPr/>
        </p:nvSpPr>
        <p:spPr>
          <a:xfrm>
            <a:off x="11338560" y="1783079"/>
            <a:ext cx="182880" cy="182880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201167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роли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0" y="3291840"/>
            <a:ext cx="182880" cy="182880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5204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проверки</a:t>
            </a:r>
          </a:p>
        </p:txBody>
      </p:sp>
      <p:sp>
        <p:nvSpPr>
          <p:cNvPr id="23" name="Oval 22"/>
          <p:cNvSpPr/>
          <p:nvPr/>
        </p:nvSpPr>
        <p:spPr>
          <a:xfrm>
            <a:off x="11430000" y="2971800"/>
            <a:ext cx="182880" cy="182880"/>
          </a:xfrm>
          <a:prstGeom prst="ellipse">
            <a:avLst/>
          </a:prstGeom>
          <a:solidFill>
            <a:srgbClr val="5FD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32004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FC3D4"/>
                </a:solidFill>
                <a:latin typeface="Calibri"/>
              </a:rPr>
              <a:t>замеры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8251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FC3D4"/>
                </a:solidFill>
                <a:latin typeface="Calibri"/>
              </a:rPr>
              <a:t>Репозиторий открыт: проверено 2026-10-13 (api.github.com/repos/youlianvr/oneiro-ostis → HTTP 200)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FC3D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